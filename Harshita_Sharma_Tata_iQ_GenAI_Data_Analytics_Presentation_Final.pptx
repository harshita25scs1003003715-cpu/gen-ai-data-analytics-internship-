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presentation summarizes my Tata iQ GenAI Powered Data Analytics job simulation. I will cover the work involved, the analytical workflow, the AI strategy component, the skills I developed, and the overall experience.,Keep the introduction brief and move quickly into the project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simulation was completed on September 17, 2026. The completion page identifies the experience as Tata iQ's GenAI Powered Data Analytics job simulation on the Forage platform, with work related to AI-powered data analytics and strategy development for the Financial Services team at Tata iQ.,Mention that this slide establishes the context for the rest of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overall project as a three-stage flow. First, explore the data and assess quality. Second, structure a predictive modeling approach. Third, use those insights to design an AI-driven collections strategy.,The key point is that the analysis and strategy components are connected rather than being separate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main process slide. Walk from left to right and then to the second row. The source material supports a progression from EDA and risk indicators to predictive modeling, then into an AI-driven collections strategy with ethics, regulatory compliance and scalability considered.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EDA as the first analytical stage. The completion summary says the work involved exploratory data analysis using GenAI tools to assess data quality, identify risk indicators and structure insights for predictive modeling.,Emphasize that good modeling starts with understanding and cleaning the information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job simulation summary says I proposed and justified an initial no-code predictive modeling framework to assess customer delinquency risk. GenAI was used for structured model logic and evaluation criteria.,On this slide, explain the framework conceptually rather than claiming a specific model algorithm, because the supplied material does not name a particular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collections strategy as a business translation of the analytical work. The source specifically describes an AI-driven collections strategy leveraging agentic AI and automation, while incorporating ethical AI principles, regulatory compliance and scalable implementation frameworks.,Do not invent a specific collection channel, policy or customer action beyond that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focuses on the governance elements that appear directly in the completion summary: ethical AI principles, regulatory compliance, process automation and scalable implementation frameworks.,The important message is that AI strategy includes not just what the system can do, but also how it should be implemented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skills listed on the completion page. The skill groups here reorganize them into three easy-to-explain categories: analytics, strategy, and business/governance.,The presentation does not claim expertise beyond the skills identified by the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supplied screenshot includes an interview tip and a suggested explanation of interest in the role. Adapt that idea into a concise, accurate description of my own experience.,Use the quoted sentence as a speaking guide rather than reading it word-for-word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main content with four learning takeaways. The source material supports the combination of GenAI, exploratory analysis, predictive modeling, strategy, ethics, compliance and communication.,Frame these as lessons learned rather than claims of extensive professional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content slide. Summarize the learning journey in one sentence: GenAI supported a workflow that connected EDA, predictive modeling and AI strategy, with responsibility and compliance considered.,Then move to the Thank You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If asked about the experience, focus on the work explicitly listed in the completion summary: EDA, data quality, predictive modeling framework, AI-driven collections strategy, automation, ethics and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8FA"/>
        </a:solidFill>
      </p:bgPr>
    </p:bg>
    <p:spTree>
      <p:nvGrpSpPr>
        <p:cNvPr id="1" name=""/>
        <p:cNvGrpSpPr/>
        <p:nvPr/>
      </p:nvGrpSpPr>
      <p:grpSpPr>
        <a:xfrm>
          <a:off x="0" y="0"/>
          <a:ext cx="0" cy="0"/>
          <a:chOff x="0" y="0"/>
          <a:chExt cx="0" cy="0"/>
        </a:xfrm>
      </p:grpSpPr>
      <p:sp>
        <p:nvSpPr>
          <p:cNvPr id="2" name="Shape 0"/>
          <p:cNvSpPr/>
          <p:nvPr/>
        </p:nvSpPr>
        <p:spPr>
          <a:xfrm>
            <a:off x="0" y="0"/>
            <a:ext cx="12191695" cy="347472"/>
          </a:xfrm>
          <a:prstGeom prst="rect">
            <a:avLst/>
          </a:prstGeom>
          <a:solidFill>
            <a:srgbClr val="1600FF"/>
          </a:solidFill>
          <a:ln w="12700">
            <a:solidFill>
              <a:srgbClr val="1600FF"/>
            </a:solidFill>
            <a:prstDash val="solid"/>
          </a:ln>
        </p:spPr>
      </p:sp>
      <p:sp>
        <p:nvSpPr>
          <p:cNvPr id="3" name="Text 1"/>
          <p:cNvSpPr/>
          <p:nvPr/>
        </p:nvSpPr>
        <p:spPr>
          <a:xfrm>
            <a:off x="256032" y="91440"/>
            <a:ext cx="1097280" cy="155448"/>
          </a:xfrm>
          <a:prstGeom prst="rect">
            <a:avLst/>
          </a:prstGeom>
          <a:noFill/>
          <a:ln/>
        </p:spPr>
        <p:txBody>
          <a:bodyPr wrap="square" lIns="0" tIns="0" rIns="0" bIns="0" rtlCol="0" anchor="ctr"/>
          <a:lstStyle/>
          <a:p>
            <a:pPr algn="l" indent="0" marL="0">
              <a:buNone/>
            </a:pPr>
            <a:r>
              <a:rPr lang="en-US" sz="900" b="1" dirty="0">
                <a:solidFill>
                  <a:srgbClr val="FFFFFF"/>
                </a:solidFill>
                <a:latin typeface="Arial" pitchFamily="34" charset="0"/>
                <a:ea typeface="Arial" pitchFamily="34" charset="-122"/>
                <a:cs typeface="Arial" pitchFamily="34" charset="-120"/>
              </a:rPr>
              <a:t>TATA iQ</a:t>
            </a:r>
            <a:endParaRPr lang="en-US" sz="900" dirty="0"/>
          </a:p>
        </p:txBody>
      </p:sp>
      <p:sp>
        <p:nvSpPr>
          <p:cNvPr id="4" name="Text 2"/>
          <p:cNvSpPr/>
          <p:nvPr/>
        </p:nvSpPr>
        <p:spPr>
          <a:xfrm>
            <a:off x="8366760" y="91440"/>
            <a:ext cx="3429000" cy="155448"/>
          </a:xfrm>
          <a:prstGeom prst="rect">
            <a:avLst/>
          </a:prstGeom>
          <a:noFill/>
          <a:ln/>
        </p:spPr>
        <p:txBody>
          <a:bodyPr wrap="square" lIns="0" tIns="0" rIns="0" bIns="0" rtlCol="0" anchor="ctr"/>
          <a:lstStyle/>
          <a:p>
            <a:pPr algn="r" indent="0" marL="0">
              <a:buNone/>
            </a:pPr>
            <a:r>
              <a:rPr lang="en-US" sz="850" spc="40" kern="0" dirty="0">
                <a:solidFill>
                  <a:srgbClr val="FFFFFF"/>
                </a:solidFill>
                <a:latin typeface="Arial" pitchFamily="34" charset="0"/>
                <a:ea typeface="Arial" pitchFamily="34" charset="-122"/>
                <a:cs typeface="Arial" pitchFamily="34" charset="-120"/>
              </a:rPr>
              <a:t>GENAI POWERED DATA ANALYTICS</a:t>
            </a:r>
            <a:endParaRPr lang="en-US" sz="850" dirty="0"/>
          </a:p>
        </p:txBody>
      </p:sp>
      <p:sp>
        <p:nvSpPr>
          <p:cNvPr id="5" name="Text 3"/>
          <p:cNvSpPr/>
          <p:nvPr/>
        </p:nvSpPr>
        <p:spPr>
          <a:xfrm>
            <a:off x="411480" y="6510528"/>
            <a:ext cx="5486400" cy="146304"/>
          </a:xfrm>
          <a:prstGeom prst="rect">
            <a:avLst/>
          </a:prstGeom>
          <a:noFill/>
          <a:ln/>
        </p:spPr>
        <p:txBody>
          <a:bodyPr wrap="square" lIns="0" tIns="0" rIns="0" bIns="0" rtlCol="0" anchor="ctr"/>
          <a:lstStyle/>
          <a:p>
            <a:pPr indent="0" marL="0">
              <a:buNone/>
            </a:pPr>
            <a:r>
              <a:rPr lang="en-US" sz="750" dirty="0">
                <a:solidFill>
                  <a:srgbClr val="6E6E73"/>
                </a:solidFill>
                <a:latin typeface="Arial" pitchFamily="34" charset="0"/>
                <a:ea typeface="Arial" pitchFamily="34" charset="-122"/>
                <a:cs typeface="Arial" pitchFamily="34" charset="-120"/>
              </a:rPr>
              <a:t>PRAJEET PUSHKAR  •  25SCS1003003715</a:t>
            </a:r>
            <a:endParaRPr lang="en-US" sz="750" dirty="0"/>
          </a:p>
        </p:txBody>
      </p:sp>
      <p:sp>
        <p:nvSpPr>
          <p:cNvPr id="6" name="Text 4"/>
          <p:cNvSpPr/>
          <p:nvPr/>
        </p:nvSpPr>
        <p:spPr>
          <a:xfrm>
            <a:off x="11155680" y="6510528"/>
            <a:ext cx="594360" cy="146304"/>
          </a:xfrm>
          <a:prstGeom prst="rect">
            <a:avLst/>
          </a:prstGeom>
          <a:noFill/>
          <a:ln/>
        </p:spPr>
        <p:txBody>
          <a:bodyPr wrap="square" lIns="0" tIns="0" rIns="0" bIns="0" rtlCol="0" anchor="ctr"/>
          <a:lstStyle/>
          <a:p>
            <a:pPr algn="r" indent="0" marL="0">
              <a:buNone/>
            </a:pPr>
            <a:r>
              <a:rPr lang="en-US" sz="750" dirty="0">
                <a:solidFill>
                  <a:srgbClr val="6E6E73"/>
                </a:solidFill>
                <a:latin typeface="Arial" pitchFamily="34" charset="0"/>
                <a:ea typeface="Arial" pitchFamily="34" charset="-122"/>
                <a:cs typeface="Arial" pitchFamily="34" charset="-120"/>
              </a:rPr>
              <a:t>2026</a:t>
            </a:r>
            <a:endParaRPr lang="en-US" sz="7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91695" cy="347472"/>
          </a:xfrm>
          <a:prstGeom prst="rect">
            <a:avLst/>
          </a:prstGeom>
          <a:solidFill>
            <a:srgbClr val="1600FF"/>
          </a:solidFill>
          <a:ln w="12700">
            <a:solidFill>
              <a:srgbClr val="1600FF"/>
            </a:solidFill>
            <a:prstDash val="solid"/>
          </a:ln>
        </p:spPr>
        <p:txBody>
          <a:bodyPr/>
          <a:p/>
        </p:txBody>
      </p:sp>
      <p:sp>
        <p:nvSpPr>
          <p:cNvPr id="3" name="Shape 1"/>
          <p:cNvSpPr/>
          <p:nvPr/>
        </p:nvSpPr>
        <p:spPr>
          <a:xfrm>
            <a:off x="8823960" y="475488"/>
            <a:ext cx="2926080" cy="2926080"/>
          </a:xfrm>
          <a:prstGeom prst="ellipse">
            <a:avLst/>
          </a:prstGeom>
          <a:solidFill>
            <a:srgbClr val="C8C7FF">
              <a:alpha val="75000"/>
            </a:srgbClr>
          </a:solidFill>
          <a:ln w="12700">
            <a:solidFill>
              <a:srgbClr val="C8C7FF">
                <a:alpha val="0"/>
              </a:srgbClr>
            </a:solidFill>
            <a:prstDash val="solid"/>
          </a:ln>
        </p:spPr>
        <p:txBody>
          <a:bodyPr/>
          <a:p/>
        </p:txBody>
      </p:sp>
      <p:sp>
        <p:nvSpPr>
          <p:cNvPr id="4" name="Shape 2"/>
          <p:cNvSpPr/>
          <p:nvPr/>
        </p:nvSpPr>
        <p:spPr>
          <a:xfrm>
            <a:off x="7818120" y="4297680"/>
            <a:ext cx="2011680" cy="2011680"/>
          </a:xfrm>
          <a:prstGeom prst="ellipse">
            <a:avLst/>
          </a:prstGeom>
          <a:solidFill>
            <a:srgbClr val="DAD9FF">
              <a:alpha val="85000"/>
            </a:srgbClr>
          </a:solidFill>
          <a:ln w="12700">
            <a:solidFill>
              <a:srgbClr val="DAD9FF">
                <a:alpha val="0"/>
              </a:srgbClr>
            </a:solidFill>
            <a:prstDash val="solid"/>
          </a:ln>
        </p:spPr>
        <p:txBody>
          <a:bodyPr/>
          <a:p/>
        </p:txBody>
      </p:sp>
      <p:sp>
        <p:nvSpPr>
          <p:cNvPr id="5" name="Text 3"/>
          <p:cNvSpPr/>
          <p:nvPr/>
        </p:nvSpPr>
        <p:spPr>
          <a:xfrm>
            <a:off x="566928" y="658368"/>
            <a:ext cx="4114800" cy="256032"/>
          </a:xfrm>
          <a:prstGeom prst="rect">
            <a:avLst/>
          </a:prstGeom>
          <a:noFill/>
          <a:ln/>
        </p:spPr>
        <p:txBody>
          <a:bodyPr wrap="square" lIns="0" tIns="0" rIns="0" bIns="0" rtlCol="0" anchor="ctr"/>
          <a:lstStyle/>
          <a:p>
            <a:pPr indent="0" marL="0">
              <a:buNone/>
            </a:pPr>
            <a:r>
              <a:rPr lang="en-US" sz="1150" b="1" dirty="0">
                <a:solidFill>
                  <a:srgbClr val="17171A"/>
                </a:solidFill>
                <a:latin typeface="Inter"/>
              </a:rPr>
              <a:t>Student Name: Harshita Sharma</a:t>
            </a:r>
            <a:endParaRPr lang="en-US" sz="1150" dirty="0"/>
          </a:p>
        </p:txBody>
      </p:sp>
      <p:sp>
        <p:nvSpPr>
          <p:cNvPr id="6" name="Text 4"/>
          <p:cNvSpPr/>
          <p:nvPr/>
        </p:nvSpPr>
        <p:spPr>
          <a:xfrm>
            <a:off x="566928" y="950976"/>
            <a:ext cx="4206240" cy="228600"/>
          </a:xfrm>
          <a:prstGeom prst="rect">
            <a:avLst/>
          </a:prstGeom>
          <a:noFill/>
          <a:ln/>
        </p:spPr>
        <p:txBody>
          <a:bodyPr wrap="square" lIns="0" tIns="0" rIns="0" bIns="0" rtlCol="0" anchor="ctr"/>
          <a:lstStyle/>
          <a:p>
            <a:pPr indent="0" marL="0">
              <a:buNone/>
            </a:pPr>
            <a:r>
              <a:rPr lang="en-US" sz="1150" b="1" dirty="0">
                <a:solidFill>
                  <a:srgbClr val="17171A"/>
                </a:solidFill>
                <a:latin typeface="Inter"/>
              </a:rPr>
              <a:t>Roll No.: 25SCS1003003715</a:t>
            </a:r>
            <a:endParaRPr lang="en-US" sz="1150" dirty="0"/>
          </a:p>
        </p:txBody>
      </p:sp>
      <p:sp>
        <p:nvSpPr>
          <p:cNvPr id="7" name="Text 5"/>
          <p:cNvSpPr/>
          <p:nvPr/>
        </p:nvSpPr>
        <p:spPr>
          <a:xfrm>
            <a:off x="566928" y="1234440"/>
            <a:ext cx="1828800" cy="201168"/>
          </a:xfrm>
          <a:prstGeom prst="rect">
            <a:avLst/>
          </a:prstGeom>
          <a:noFill/>
          <a:ln/>
        </p:spPr>
        <p:txBody>
          <a:bodyPr wrap="square" lIns="0" tIns="0" rIns="0" bIns="0" rtlCol="0" anchor="ctr"/>
          <a:lstStyle/>
          <a:p>
            <a:pPr indent="0" marL="0">
              <a:buNone/>
            </a:pPr>
            <a:r>
              <a:rPr lang="en-US" sz="1100" dirty="0">
                <a:solidFill>
                  <a:srgbClr val="64646B"/>
                </a:solidFill>
                <a:latin typeface="Inter"/>
              </a:rPr>
              <a:t>B.Tech CSE</a:t>
            </a:r>
            <a:endParaRPr lang="en-US" sz="1100" dirty="0"/>
          </a:p>
        </p:txBody>
      </p:sp>
      <p:sp>
        <p:nvSpPr>
          <p:cNvPr id="8" name="Shape 6"/>
          <p:cNvSpPr/>
          <p:nvPr/>
        </p:nvSpPr>
        <p:spPr>
          <a:xfrm>
            <a:off x="566928" y="1627632"/>
            <a:ext cx="91440" cy="3108960"/>
          </a:xfrm>
          <a:prstGeom prst="rect">
            <a:avLst/>
          </a:prstGeom>
          <a:solidFill>
            <a:srgbClr val="1600FF"/>
          </a:solidFill>
          <a:ln w="12700">
            <a:solidFill>
              <a:srgbClr val="1600FF"/>
            </a:solidFill>
            <a:prstDash val="solid"/>
          </a:ln>
        </p:spPr>
        <p:txBody>
          <a:bodyPr/>
          <a:p/>
        </p:txBody>
      </p:sp>
      <p:sp>
        <p:nvSpPr>
          <p:cNvPr id="9" name="Text 7"/>
          <p:cNvSpPr/>
          <p:nvPr/>
        </p:nvSpPr>
        <p:spPr>
          <a:xfrm>
            <a:off x="859536" y="1682496"/>
            <a:ext cx="4572000" cy="603504"/>
          </a:xfrm>
          <a:prstGeom prst="rect">
            <a:avLst/>
          </a:prstGeom>
          <a:noFill/>
          <a:ln/>
        </p:spPr>
        <p:txBody>
          <a:bodyPr wrap="square" lIns="0" tIns="0" rIns="0" bIns="0" rtlCol="0" anchor="ctr"/>
          <a:lstStyle/>
          <a:p>
            <a:pPr indent="0" marL="0">
              <a:buNone/>
            </a:pPr>
            <a:r>
              <a:rPr lang="en-US" sz="2800" b="1" dirty="0">
                <a:solidFill>
                  <a:srgbClr val="1600FF"/>
                </a:solidFill>
                <a:latin typeface="Inter" pitchFamily="34" charset="0"/>
                <a:ea typeface="Arial Narrow" pitchFamily="34" charset="-122"/>
                <a:cs typeface="Arial Narrow" pitchFamily="34" charset="-120"/>
              </a:rPr>
              <a:t>Tata iQ</a:t>
            </a:r>
            <a:endParaRPr lang="en-US" sz="2800" dirty="0"/>
          </a:p>
        </p:txBody>
      </p:sp>
      <p:sp>
        <p:nvSpPr>
          <p:cNvPr id="10" name="Text 8"/>
          <p:cNvSpPr/>
          <p:nvPr/>
        </p:nvSpPr>
        <p:spPr>
          <a:xfrm>
            <a:off x="859536" y="2249424"/>
            <a:ext cx="6400800" cy="1417320"/>
          </a:xfrm>
          <a:prstGeom prst="rect">
            <a:avLst/>
          </a:prstGeom>
          <a:noFill/>
          <a:ln/>
        </p:spPr>
        <p:txBody>
          <a:bodyPr wrap="square" lIns="0" tIns="0" rIns="0" bIns="0" rtlCol="0" anchor="ctr">
            <a:normAutofit/>
          </a:bodyPr>
          <a:lstStyle/>
          <a:p>
            <a:pPr indent="0" marL="0">
              <a:buNone/>
            </a:pPr>
            <a:r>
              <a:rPr lang="en-US" sz="4200" b="1" dirty="0">
                <a:solidFill>
                  <a:srgbClr val="17171A"/>
                </a:solidFill>
                <a:latin typeface="Inter" pitchFamily="34" charset="0"/>
                <a:ea typeface="Arial Narrow" pitchFamily="34" charset="-122"/>
                <a:cs typeface="Arial Narrow" pitchFamily="34" charset="-120"/>
              </a:rPr>
              <a:t>GenAI Powered</a:t>
            </a:r>
            <a:endParaRPr lang="en-US" sz="4200" dirty="0"/>
          </a:p>
          <a:p>
            <a:pPr indent="0" marL="0">
              <a:buNone/>
            </a:pPr>
            <a:r>
              <a:rPr lang="en-US" sz="4200" b="1" dirty="0">
                <a:solidFill>
                  <a:srgbClr val="17171A"/>
                </a:solidFill>
                <a:latin typeface="Inter" pitchFamily="34" charset="0"/>
                <a:ea typeface="Arial Narrow" pitchFamily="34" charset="-122"/>
                <a:cs typeface="Arial Narrow" pitchFamily="34" charset="-120"/>
              </a:rPr>
              <a:t>Data Analytics</a:t>
            </a:r>
            <a:endParaRPr lang="en-US" sz="4200" dirty="0"/>
          </a:p>
        </p:txBody>
      </p:sp>
      <p:sp>
        <p:nvSpPr>
          <p:cNvPr id="11" name="Text 9"/>
          <p:cNvSpPr/>
          <p:nvPr/>
        </p:nvSpPr>
        <p:spPr>
          <a:xfrm>
            <a:off x="868680" y="3886200"/>
            <a:ext cx="5394960" cy="347472"/>
          </a:xfrm>
          <a:prstGeom prst="rect">
            <a:avLst/>
          </a:prstGeom>
          <a:noFill/>
          <a:ln/>
        </p:spPr>
        <p:txBody>
          <a:bodyPr wrap="square" lIns="0" tIns="0" rIns="0" bIns="0" rtlCol="0" anchor="ctr"/>
          <a:lstStyle/>
          <a:p>
            <a:pPr indent="0" marL="0">
              <a:buNone/>
            </a:pPr>
            <a:r>
              <a:rPr lang="en-US" sz="1700" dirty="0">
                <a:solidFill>
                  <a:srgbClr val="64646B"/>
                </a:solidFill>
                <a:latin typeface="Inter"/>
              </a:rPr>
              <a:t>Job Simulation Project Presentation</a:t>
            </a:r>
            <a:endParaRPr lang="en-US" sz="1700" dirty="0"/>
          </a:p>
        </p:txBody>
      </p:sp>
      <p:sp>
        <p:nvSpPr>
          <p:cNvPr id="12" name="Shape 10"/>
          <p:cNvSpPr/>
          <p:nvPr/>
        </p:nvSpPr>
        <p:spPr>
          <a:xfrm>
            <a:off x="868680" y="4434840"/>
            <a:ext cx="2606040" cy="274320"/>
          </a:xfrm>
          <a:prstGeom prst="roundRect">
            <a:avLst>
              <a:gd name="adj" fmla="val 43333"/>
            </a:avLst>
          </a:prstGeom>
          <a:solidFill>
            <a:srgbClr val="F8F8FA"/>
          </a:solidFill>
          <a:ln w="11430">
            <a:solidFill>
              <a:srgbClr val="1600FF"/>
            </a:solidFill>
            <a:prstDash val="solid"/>
          </a:ln>
        </p:spPr>
        <p:txBody>
          <a:bodyPr/>
          <a:p/>
        </p:txBody>
      </p:sp>
      <p:sp>
        <p:nvSpPr>
          <p:cNvPr id="13" name="Text 11"/>
          <p:cNvSpPr/>
          <p:nvPr/>
        </p:nvSpPr>
        <p:spPr>
          <a:xfrm>
            <a:off x="932688" y="4503420"/>
            <a:ext cx="2478024"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COMPLETED  •  SEPTEMBER 17, 2026</a:t>
            </a:r>
            <a:endParaRPr lang="en-US" sz="800" dirty="0"/>
          </a:p>
        </p:txBody>
      </p:sp>
      <p:sp>
        <p:nvSpPr>
          <p:cNvPr id="14" name="Text 12"/>
          <p:cNvSpPr/>
          <p:nvPr/>
        </p:nvSpPr>
        <p:spPr>
          <a:xfrm>
            <a:off x="868680" y="5084064"/>
            <a:ext cx="4114800" cy="320040"/>
          </a:xfrm>
          <a:prstGeom prst="rect">
            <a:avLst/>
          </a:prstGeom>
          <a:noFill/>
          <a:ln/>
        </p:spPr>
        <p:txBody>
          <a:bodyPr wrap="square" lIns="0" tIns="0" rIns="0" bIns="0" rtlCol="0" anchor="ctr"/>
          <a:lstStyle/>
          <a:p>
            <a:pPr indent="0" marL="0">
              <a:buNone/>
            </a:pPr>
            <a:r>
              <a:rPr lang="en-US" sz="1400" b="1" dirty="0">
                <a:solidFill>
                  <a:srgbClr val="17171A"/>
                </a:solidFill>
                <a:latin typeface="Inter"/>
              </a:rPr>
              <a:t>Presented by Harshita Sharma</a:t>
            </a:r>
            <a:endParaRPr lang="en-US" sz="1400" dirty="0"/>
          </a:p>
        </p:txBody>
      </p:sp>
      <p:sp>
        <p:nvSpPr>
          <p:cNvPr id="15" name="Text 13"/>
          <p:cNvSpPr/>
          <p:nvPr/>
        </p:nvSpPr>
        <p:spPr>
          <a:xfrm>
            <a:off x="868680" y="5504688"/>
            <a:ext cx="6858000" cy="438912"/>
          </a:xfrm>
          <a:prstGeom prst="rect">
            <a:avLst/>
          </a:prstGeom>
          <a:noFill/>
          <a:ln/>
        </p:spPr>
        <p:txBody>
          <a:bodyPr wrap="square" lIns="0" tIns="0" rIns="0" bIns="0" rtlCol="0" anchor="ctr">
            <a:normAutofit/>
          </a:bodyPr>
          <a:lstStyle/>
          <a:p>
            <a:pPr indent="0" marL="0">
              <a:buNone/>
            </a:pPr>
            <a:r>
              <a:rPr lang="en-US" sz="1350" dirty="0">
                <a:solidFill>
                  <a:srgbClr val="64646B"/>
                </a:solidFill>
                <a:latin typeface="Inter"/>
              </a:rPr>
              <a:t>A practical learning journey across GenAI, data analysis, predictive analytics and AI strategy.</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777240" cy="502920"/>
          </a:xfrm>
          <a:prstGeom prst="rect">
            <a:avLst/>
          </a:prstGeom>
          <a:noFill/>
          <a:ln/>
        </p:spPr>
        <p:txBody>
          <a:bodyPr wrap="square" lIns="0" tIns="0" rIns="0" bIns="0" rtlCol="0" anchor="ctr"/>
          <a:lstStyle/>
          <a:p>
            <a:pPr indent="0" marL="0">
              <a:buNone/>
            </a:pPr>
            <a:r>
              <a:rPr lang="en-US" sz="2600" b="1" spc="50" kern="0" dirty="0">
                <a:solidFill>
                  <a:srgbClr val="1600FF"/>
                </a:solidFill>
                <a:latin typeface="Inter" pitchFamily="34" charset="0"/>
                <a:ea typeface="Arial Narrow" pitchFamily="34" charset="-122"/>
                <a:cs typeface="Arial Narrow" pitchFamily="34" charset="-120"/>
              </a:rPr>
              <a:t>01</a:t>
            </a:r>
            <a:endParaRPr lang="en-US" sz="2600" dirty="0"/>
          </a:p>
        </p:txBody>
      </p:sp>
      <p:sp>
        <p:nvSpPr>
          <p:cNvPr id="3" name="Text 1"/>
          <p:cNvSpPr/>
          <p:nvPr/>
        </p:nvSpPr>
        <p:spPr>
          <a:xfrm>
            <a:off x="1234440" y="713232"/>
            <a:ext cx="10241280" cy="658368"/>
          </a:xfrm>
          <a:prstGeom prst="rect">
            <a:avLst/>
          </a:prstGeom>
          <a:noFill/>
          <a:ln/>
        </p:spPr>
        <p:txBody>
          <a:bodyPr wrap="square" lIns="0" tIns="0" rIns="0" bIns="0" rtlCol="0" anchor="ctr">
            <a:normAutofit/>
          </a:bodyPr>
          <a:lstStyle/>
          <a:p>
            <a:pPr indent="0" marL="0">
              <a:buNone/>
            </a:pPr>
            <a:r>
              <a:rPr lang="en-US" sz="3100" b="1" dirty="0">
                <a:solidFill>
                  <a:srgbClr val="17171A"/>
                </a:solidFill>
                <a:latin typeface="Inter" pitchFamily="34" charset="0"/>
                <a:ea typeface="Arial Narrow" pitchFamily="34" charset="-122"/>
                <a:cs typeface="Arial Narrow" pitchFamily="34" charset="-120"/>
              </a:rPr>
              <a:t>Simulation Overview</a:t>
            </a:r>
            <a:endParaRPr lang="en-US" sz="3100" dirty="0"/>
          </a:p>
        </p:txBody>
      </p:sp>
      <p:sp>
        <p:nvSpPr>
          <p:cNvPr id="4" name="Text 2"/>
          <p:cNvSpPr/>
          <p:nvPr/>
        </p:nvSpPr>
        <p:spPr>
          <a:xfrm>
            <a:off x="1243584" y="1353312"/>
            <a:ext cx="8046720" cy="219456"/>
          </a:xfrm>
          <a:prstGeom prst="rect">
            <a:avLst/>
          </a:prstGeom>
          <a:noFill/>
          <a:ln/>
        </p:spPr>
        <p:txBody>
          <a:bodyPr wrap="square" lIns="0" tIns="0" rIns="0" bIns="0" rtlCol="0" anchor="ctr"/>
          <a:lstStyle/>
          <a:p>
            <a:pPr indent="0" marL="0">
              <a:buNone/>
            </a:pPr>
            <a:r>
              <a:rPr lang="en-US" sz="850" b="1" spc="140" kern="0" dirty="0">
                <a:solidFill>
                  <a:srgbClr val="1600FF"/>
                </a:solidFill>
                <a:latin typeface="Inter"/>
              </a:rPr>
              <a:t>WHAT THE EXPERIENCE INVOLVED</a:t>
            </a:r>
            <a:endParaRPr lang="en-US" sz="850" dirty="0"/>
          </a:p>
        </p:txBody>
      </p:sp>
      <p:sp>
        <p:nvSpPr>
          <p:cNvPr id="5" name="Shape 3"/>
          <p:cNvSpPr/>
          <p:nvPr/>
        </p:nvSpPr>
        <p:spPr>
          <a:xfrm>
            <a:off x="566928" y="1755648"/>
            <a:ext cx="10881360" cy="4224528"/>
          </a:xfrm>
          <a:prstGeom prst="roundRect">
            <a:avLst>
              <a:gd name="adj" fmla="val 1732"/>
            </a:avLst>
          </a:prstGeom>
          <a:solidFill>
            <a:srgbClr val="FFFFFF"/>
          </a:solidFill>
          <a:ln w="10160">
            <a:solidFill>
              <a:srgbClr val="D8D9E3"/>
            </a:solidFill>
            <a:prstDash val="solid"/>
          </a:ln>
          <a:effectLst>
            <a:outerShdw sx="100000" sy="100000" kx="0" ky="0" algn="bl" rotWithShape="0" blurRad="25400" dist="12700" dir="2700000">
              <a:srgbClr val="000000">
                <a:alpha val="12000"/>
              </a:srgbClr>
            </a:outerShdw>
          </a:effectLst>
        </p:spPr>
        <p:txBody>
          <a:bodyPr/>
          <a:p/>
        </p:txBody>
      </p:sp>
      <p:sp>
        <p:nvSpPr>
          <p:cNvPr id="6" name="Text 4"/>
          <p:cNvSpPr/>
          <p:nvPr/>
        </p:nvSpPr>
        <p:spPr>
          <a:xfrm>
            <a:off x="841248" y="2011680"/>
            <a:ext cx="7772400" cy="438912"/>
          </a:xfrm>
          <a:prstGeom prst="rect">
            <a:avLst/>
          </a:prstGeom>
          <a:noFill/>
          <a:ln/>
        </p:spPr>
        <p:txBody>
          <a:bodyPr wrap="square" lIns="0" tIns="0" rIns="0" bIns="0" rtlCol="0" anchor="ctr"/>
          <a:lstStyle/>
          <a:p>
            <a:pPr indent="0" marL="0">
              <a:buNone/>
            </a:pPr>
            <a:r>
              <a:rPr lang="en-US" sz="2300" b="1" dirty="0">
                <a:solidFill>
                  <a:srgbClr val="202124"/>
                </a:solidFill>
                <a:latin typeface="Inter" pitchFamily="34" charset="0"/>
                <a:ea typeface="Arial Narrow" pitchFamily="34" charset="-122"/>
                <a:cs typeface="Arial Narrow" pitchFamily="34" charset="-120"/>
              </a:rPr>
              <a:t>GenAI Powered Data Analytics</a:t>
            </a:r>
            <a:endParaRPr lang="en-US" sz="2400" dirty="0"/>
          </a:p>
        </p:txBody>
      </p:sp>
      <p:sp>
        <p:nvSpPr>
          <p:cNvPr id="7" name="Text 5"/>
          <p:cNvSpPr/>
          <p:nvPr/>
        </p:nvSpPr>
        <p:spPr>
          <a:xfrm>
            <a:off x="841248" y="2542032"/>
            <a:ext cx="9875520" cy="777240"/>
          </a:xfrm>
          <a:prstGeom prst="rect">
            <a:avLst/>
          </a:prstGeom>
          <a:noFill/>
          <a:ln/>
        </p:spPr>
        <p:txBody>
          <a:bodyPr wrap="square" lIns="0" tIns="0" rIns="0" bIns="0" rtlCol="0" anchor="t">
            <a:normAutofit/>
          </a:bodyPr>
          <a:lstStyle/>
          <a:p>
            <a:pPr algn="l" indent="0" marL="0">
              <a:buNone/>
            </a:pPr>
            <a:r>
              <a:rPr lang="en-US" sz="1800" dirty="0">
                <a:solidFill>
                  <a:srgbClr val="6C707A"/>
                </a:solidFill>
                <a:latin typeface="Inter" pitchFamily="34" charset="0"/>
                <a:ea typeface="Arial" pitchFamily="34" charset="-122"/>
                <a:cs typeface="Arial" pitchFamily="34" charset="-120"/>
              </a:rPr>
              <a:t>Completed a job simulation involving AI-powered data analytics and strategy development for the Financial Services team at Tata iQ.</a:t>
            </a:r>
            <a:endParaRPr lang="en-US" sz="1620" dirty="0"/>
          </a:p>
        </p:txBody>
      </p:sp>
      <p:sp>
        <p:nvSpPr>
          <p:cNvPr id="8" name="Shape 6"/>
          <p:cNvSpPr/>
          <p:nvPr/>
        </p:nvSpPr>
        <p:spPr>
          <a:xfrm>
            <a:off x="896112" y="3529584"/>
            <a:ext cx="1600200" cy="292608"/>
          </a:xfrm>
          <a:prstGeom prst="roundRect">
            <a:avLst>
              <a:gd name="adj" fmla="val 43333"/>
            </a:avLst>
          </a:prstGeom>
          <a:solidFill>
            <a:srgbClr val="F2F2F5"/>
          </a:solidFill>
          <a:ln w="11430">
            <a:solidFill>
              <a:srgbClr val="1600FF"/>
            </a:solidFill>
            <a:prstDash val="solid"/>
          </a:ln>
        </p:spPr>
        <p:txBody>
          <a:bodyPr/>
          <a:p/>
        </p:txBody>
      </p:sp>
      <p:sp>
        <p:nvSpPr>
          <p:cNvPr id="9" name="Text 7"/>
          <p:cNvSpPr/>
          <p:nvPr/>
        </p:nvSpPr>
        <p:spPr>
          <a:xfrm>
            <a:off x="960120" y="3602736"/>
            <a:ext cx="1472184" cy="128016"/>
          </a:xfrm>
          <a:prstGeom prst="rect">
            <a:avLst/>
          </a:prstGeom>
          <a:noFill/>
          <a:ln/>
        </p:spPr>
        <p:txBody>
          <a:bodyPr wrap="square" lIns="0" tIns="0" rIns="0" bIns="0" rtlCol="0" anchor="ctr">
            <a:normAutofit/>
          </a:bodyPr>
          <a:lstStyle/>
          <a:p>
            <a:pPr algn="ctr" indent="0" marL="0">
              <a:buNone/>
            </a:pPr>
            <a:r>
              <a:rPr lang="en-US" sz="900" b="1" spc="30" kern="0" dirty="0">
                <a:solidFill>
                  <a:srgbClr val="1600FF"/>
                </a:solidFill>
                <a:latin typeface="Inter" pitchFamily="34" charset="0"/>
                <a:ea typeface="Arial" pitchFamily="34" charset="-122"/>
                <a:cs typeface="Arial" pitchFamily="34" charset="-120"/>
              </a:rPr>
              <a:t>FORAGE PLATFORM</a:t>
            </a:r>
            <a:endParaRPr lang="en-US" sz="800" dirty="0"/>
          </a:p>
        </p:txBody>
      </p:sp>
      <p:sp>
        <p:nvSpPr>
          <p:cNvPr id="10" name="Shape 8"/>
          <p:cNvSpPr/>
          <p:nvPr/>
        </p:nvSpPr>
        <p:spPr>
          <a:xfrm>
            <a:off x="2679192" y="3529584"/>
            <a:ext cx="2057400" cy="292608"/>
          </a:xfrm>
          <a:prstGeom prst="roundRect">
            <a:avLst>
              <a:gd name="adj" fmla="val 43333"/>
            </a:avLst>
          </a:prstGeom>
          <a:solidFill>
            <a:srgbClr val="F2F2F5"/>
          </a:solidFill>
          <a:ln w="11430">
            <a:solidFill>
              <a:srgbClr val="1600FF"/>
            </a:solidFill>
            <a:prstDash val="solid"/>
          </a:ln>
        </p:spPr>
        <p:txBody>
          <a:bodyPr/>
          <a:p/>
        </p:txBody>
      </p:sp>
      <p:sp>
        <p:nvSpPr>
          <p:cNvPr id="11" name="Text 9"/>
          <p:cNvSpPr/>
          <p:nvPr/>
        </p:nvSpPr>
        <p:spPr>
          <a:xfrm>
            <a:off x="2743200" y="3602736"/>
            <a:ext cx="1929384" cy="128016"/>
          </a:xfrm>
          <a:prstGeom prst="rect">
            <a:avLst/>
          </a:prstGeom>
          <a:noFill/>
          <a:ln/>
        </p:spPr>
        <p:txBody>
          <a:bodyPr wrap="square" lIns="0" tIns="0" rIns="0" bIns="0" rtlCol="0" anchor="ctr">
            <a:normAutofit/>
          </a:bodyPr>
          <a:lstStyle/>
          <a:p>
            <a:pPr algn="ctr" indent="0" marL="0">
              <a:buNone/>
            </a:pPr>
            <a:r>
              <a:rPr lang="en-US" sz="900" b="1" spc="30" kern="0" dirty="0">
                <a:solidFill>
                  <a:srgbClr val="1600FF"/>
                </a:solidFill>
                <a:latin typeface="Inter" pitchFamily="34" charset="0"/>
                <a:ea typeface="Arial" pitchFamily="34" charset="-122"/>
                <a:cs typeface="Arial" pitchFamily="34" charset="-120"/>
              </a:rPr>
              <a:t>FINANCIAL SERVICES</a:t>
            </a:r>
            <a:endParaRPr lang="en-US" sz="800" dirty="0"/>
          </a:p>
        </p:txBody>
      </p:sp>
      <p:sp>
        <p:nvSpPr>
          <p:cNvPr id="12" name="Shape 10"/>
          <p:cNvSpPr/>
          <p:nvPr/>
        </p:nvSpPr>
        <p:spPr>
          <a:xfrm>
            <a:off x="4901184" y="3529584"/>
            <a:ext cx="914400" cy="292608"/>
          </a:xfrm>
          <a:prstGeom prst="roundRect">
            <a:avLst>
              <a:gd name="adj" fmla="val 43333"/>
            </a:avLst>
          </a:prstGeom>
          <a:solidFill>
            <a:srgbClr val="F2F2F5"/>
          </a:solidFill>
          <a:ln w="11430">
            <a:solidFill>
              <a:srgbClr val="1600FF"/>
            </a:solidFill>
            <a:prstDash val="solid"/>
          </a:ln>
        </p:spPr>
        <p:txBody>
          <a:bodyPr/>
          <a:p/>
        </p:txBody>
      </p:sp>
      <p:sp>
        <p:nvSpPr>
          <p:cNvPr id="13" name="Text 11"/>
          <p:cNvSpPr/>
          <p:nvPr/>
        </p:nvSpPr>
        <p:spPr>
          <a:xfrm>
            <a:off x="4965192" y="3602736"/>
            <a:ext cx="786384" cy="128016"/>
          </a:xfrm>
          <a:prstGeom prst="rect">
            <a:avLst/>
          </a:prstGeom>
          <a:noFill/>
          <a:ln/>
        </p:spPr>
        <p:txBody>
          <a:bodyPr wrap="square" lIns="0" tIns="0" rIns="0" bIns="0" rtlCol="0" anchor="ctr">
            <a:normAutofit/>
          </a:bodyPr>
          <a:lstStyle/>
          <a:p>
            <a:pPr algn="ctr" indent="0" marL="0">
              <a:buNone/>
            </a:pPr>
            <a:r>
              <a:rPr lang="en-US" sz="900" b="1" spc="30" kern="0" dirty="0">
                <a:solidFill>
                  <a:srgbClr val="1600FF"/>
                </a:solidFill>
                <a:latin typeface="Inter" pitchFamily="34" charset="0"/>
                <a:ea typeface="Arial" pitchFamily="34" charset="-122"/>
                <a:cs typeface="Arial" pitchFamily="34" charset="-120"/>
              </a:rPr>
              <a:t>GENAI</a:t>
            </a:r>
            <a:endParaRPr lang="en-US" sz="800" dirty="0"/>
          </a:p>
        </p:txBody>
      </p:sp>
      <p:sp>
        <p:nvSpPr>
          <p:cNvPr id="14" name="Text 12"/>
          <p:cNvSpPr/>
          <p:nvPr/>
        </p:nvSpPr>
        <p:spPr>
          <a:xfrm>
            <a:off x="841248" y="4041648"/>
            <a:ext cx="1828800" cy="228600"/>
          </a:xfrm>
          <a:prstGeom prst="rect">
            <a:avLst/>
          </a:prstGeom>
          <a:noFill/>
          <a:ln/>
        </p:spPr>
        <p:txBody>
          <a:bodyPr wrap="square" lIns="0" tIns="0" rIns="0" bIns="0" rtlCol="0" anchor="t">
            <a:normAutofit/>
          </a:bodyPr>
          <a:lstStyle/>
          <a:p>
            <a:pPr algn="l" indent="0" marL="0">
              <a:buNone/>
            </a:pPr>
            <a:r>
              <a:rPr lang="en-US" sz="1200" b="1" dirty="0">
                <a:solidFill>
                  <a:srgbClr val="1600FF"/>
                </a:solidFill>
                <a:latin typeface="Inter" pitchFamily="34" charset="0"/>
                <a:ea typeface="Arial" pitchFamily="34" charset="-122"/>
                <a:cs typeface="Arial" pitchFamily="34" charset="-120"/>
              </a:rPr>
              <a:t>Core focus</a:t>
            </a:r>
            <a:endParaRPr lang="en-US" sz="1050" dirty="0"/>
          </a:p>
        </p:txBody>
      </p:sp>
      <p:sp>
        <p:nvSpPr>
          <p:cNvPr id="15" name="Text 13"/>
          <p:cNvSpPr/>
          <p:nvPr/>
        </p:nvSpPr>
        <p:spPr>
          <a:xfrm>
            <a:off x="896112" y="4370832"/>
            <a:ext cx="9738360" cy="1051560"/>
          </a:xfrm>
          <a:prstGeom prst="rect">
            <a:avLst/>
          </a:prstGeom>
          <a:noFill/>
          <a:ln/>
        </p:spPr>
        <p:txBody>
          <a:bodyPr wrap="square" lIns="0" tIns="0" rIns="0" bIns="0" rtlCol="0" anchor="t">
            <a:normAutofit/>
          </a:bodyPr>
          <a:lstStyle/>
          <a:p>
            <a:pPr marL="177800" indent="-177800">
              <a:buSzPct val="100000"/>
              <a:buChar char="•"/>
            </a:pPr>
            <a:r>
              <a:rPr sz="1650">
                <a:solidFill>
                  <a:srgbClr val="6C707A"/>
                </a:solidFill>
                <a:latin typeface="Inter"/>
              </a:rPr>
              <a:t>• Exploratory data analysis (EDA) and data quality assessment</a:t>
            </a:r>
            <a:endParaRPr lang="en-US" sz="1450" dirty="0"/>
          </a:p>
          <a:p>
            <a:pPr marL="177800" indent="-177800">
              <a:buSzPct val="100000"/>
              <a:buChar char="•"/>
            </a:pPr>
            <a:r>
              <a:rPr sz="1650">
                <a:solidFill>
                  <a:srgbClr val="6C707A"/>
                </a:solidFill>
                <a:latin typeface="Inter"/>
              </a:rPr>
              <a:t>• Predictive modeling framework and model evaluation thinking</a:t>
            </a:r>
            <a:endParaRPr lang="en-US" sz="1450" dirty="0"/>
          </a:p>
          <a:p>
            <a:pPr marL="177800" indent="-177800">
              <a:buSzPct val="100000"/>
              <a:buChar char="•"/>
            </a:pPr>
            <a:r>
              <a:rPr sz="1650">
                <a:solidFill>
                  <a:srgbClr val="6C707A"/>
                </a:solidFill>
                <a:latin typeface="Inter"/>
              </a:rPr>
              <a:t>• AI-driven collections strategy using agentic AI and automation</a:t>
            </a:r>
            <a:endParaRPr lang="en-US" sz="1450" dirty="0"/>
          </a:p>
        </p:txBody>
      </p:sp>
      <p:sp>
        <p:nvSpPr>
          <p:cNvPr id="16" name="TextBox 15"/>
          <p:cNvSpPr txBox="1"/>
          <p:nvPr/>
        </p:nvSpPr>
        <p:spPr>
          <a:xfrm>
            <a:off x="7726679" y="5559552"/>
            <a:ext cx="3383280" cy="292608"/>
          </a:xfrm>
          <a:prstGeom prst="rect">
            <a:avLst/>
          </a:prstGeom>
          <a:noFill/>
        </p:spPr>
        <p:txBody>
          <a:bodyPr wrap="square" lIns="45720" rIns="45720" anchor="ctr">
            <a:spAutoFit/>
          </a:bodyPr>
          <a:lstStyle/>
          <a:p>
            <a:pPr algn="r">
              <a:spcAft>
                <a:spcPts val="0"/>
              </a:spcAft>
            </a:pPr>
            <a:r>
              <a:rPr sz="950" b="1">
                <a:solidFill>
                  <a:srgbClr val="1600FF"/>
                </a:solidFill>
                <a:latin typeface="Inter"/>
              </a:rPr>
              <a:t>COMPLETED • 17 SEPTEMBER 2026 • FORAGE</a:t>
            </a:r>
          </a:p>
        </p:txBody>
      </p:sp>
      <p:sp>
        <p:nvSpPr>
          <p:cNvPr id="17" name="TextBox 16"/>
          <p:cNvSpPr txBox="1"/>
          <p:nvPr/>
        </p:nvSpPr>
        <p:spPr>
          <a:xfrm>
            <a:off x="841248" y="5541264"/>
            <a:ext cx="5394960" cy="292608"/>
          </a:xfrm>
          <a:prstGeom prst="rect">
            <a:avLst/>
          </a:prstGeom>
          <a:noFill/>
        </p:spPr>
        <p:txBody>
          <a:bodyPr wrap="square" lIns="45720" rIns="45720" anchor="ctr">
            <a:spAutoFit/>
          </a:bodyPr>
          <a:lstStyle/>
          <a:p>
            <a:pPr algn="l">
              <a:spcAft>
                <a:spcPts val="0"/>
              </a:spcAft>
            </a:pPr>
            <a:r>
              <a:rPr sz="1000" b="0">
                <a:solidFill>
                  <a:srgbClr val="6C707A"/>
                </a:solidFill>
                <a:latin typeface="Inter"/>
              </a:rPr>
              <a:t>GenAI • Data Analytics • Financial Services • Tata iQ</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777240" cy="502920"/>
          </a:xfrm>
          <a:prstGeom prst="rect">
            <a:avLst/>
          </a:prstGeom>
          <a:noFill/>
          <a:ln/>
        </p:spPr>
        <p:txBody>
          <a:bodyPr wrap="square" lIns="0" tIns="0" rIns="0" bIns="0" rtlCol="0" anchor="ctr"/>
          <a:lstStyle/>
          <a:p>
            <a:pPr indent="0" marL="0">
              <a:buNone/>
            </a:pPr>
            <a:r>
              <a:rPr lang="en-US" sz="2600" b="1" spc="50" kern="0" dirty="0">
                <a:solidFill>
                  <a:srgbClr val="1600FF"/>
                </a:solidFill>
                <a:latin typeface="Inter" pitchFamily="34" charset="0"/>
                <a:ea typeface="Arial Narrow" pitchFamily="34" charset="-122"/>
                <a:cs typeface="Arial Narrow" pitchFamily="34" charset="-120"/>
              </a:rPr>
              <a:t>02</a:t>
            </a:r>
            <a:endParaRPr lang="en-US" sz="2600" dirty="0"/>
          </a:p>
        </p:txBody>
      </p:sp>
      <p:sp>
        <p:nvSpPr>
          <p:cNvPr id="3" name="Text 1"/>
          <p:cNvSpPr/>
          <p:nvPr/>
        </p:nvSpPr>
        <p:spPr>
          <a:xfrm>
            <a:off x="1234440" y="713232"/>
            <a:ext cx="10241280" cy="658368"/>
          </a:xfrm>
          <a:prstGeom prst="rect">
            <a:avLst/>
          </a:prstGeom>
          <a:noFill/>
          <a:ln/>
        </p:spPr>
        <p:txBody>
          <a:bodyPr wrap="square" lIns="0" tIns="0" rIns="0" bIns="0" rtlCol="0" anchor="ctr">
            <a:normAutofit/>
          </a:bodyPr>
          <a:lstStyle/>
          <a:p>
            <a:pPr indent="0" marL="0">
              <a:buNone/>
            </a:pPr>
            <a:r>
              <a:rPr lang="en-US" sz="3100" b="1" dirty="0">
                <a:solidFill>
                  <a:srgbClr val="17171A"/>
                </a:solidFill>
                <a:latin typeface="Inter" pitchFamily="34" charset="0"/>
                <a:ea typeface="Arial Narrow" pitchFamily="34" charset="-122"/>
                <a:cs typeface="Arial Narrow" pitchFamily="34" charset="-120"/>
              </a:rPr>
              <a:t>Project Focus</a:t>
            </a:r>
            <a:endParaRPr lang="en-US" sz="3100" dirty="0"/>
          </a:p>
        </p:txBody>
      </p:sp>
      <p:sp>
        <p:nvSpPr>
          <p:cNvPr id="4" name="Text 2"/>
          <p:cNvSpPr/>
          <p:nvPr/>
        </p:nvSpPr>
        <p:spPr>
          <a:xfrm>
            <a:off x="1243584" y="1353312"/>
            <a:ext cx="8046720" cy="219456"/>
          </a:xfrm>
          <a:prstGeom prst="rect">
            <a:avLst/>
          </a:prstGeom>
          <a:noFill/>
          <a:ln/>
        </p:spPr>
        <p:txBody>
          <a:bodyPr wrap="square" lIns="0" tIns="0" rIns="0" bIns="0" rtlCol="0" anchor="ctr"/>
          <a:lstStyle/>
          <a:p>
            <a:pPr indent="0" marL="0">
              <a:buNone/>
            </a:pPr>
            <a:r>
              <a:rPr lang="en-US" sz="850" b="1" spc="140" kern="0" dirty="0">
                <a:solidFill>
                  <a:srgbClr val="1600FF"/>
                </a:solidFill>
                <a:latin typeface="Inter"/>
              </a:rPr>
              <a:t>FROM DATA EXPLORATION TO AI STRATEGY</a:t>
            </a:r>
            <a:endParaRPr lang="en-US" sz="850" dirty="0"/>
          </a:p>
        </p:txBody>
      </p:sp>
      <p:sp>
        <p:nvSpPr>
          <p:cNvPr id="5" name="Shape 3"/>
          <p:cNvSpPr/>
          <p:nvPr/>
        </p:nvSpPr>
        <p:spPr>
          <a:xfrm>
            <a:off x="603504" y="1938528"/>
            <a:ext cx="3182112" cy="3611880"/>
          </a:xfrm>
          <a:prstGeom prst="roundRect">
            <a:avLst>
              <a:gd name="adj" fmla="val 2299"/>
            </a:avLst>
          </a:prstGeom>
          <a:solidFill>
            <a:srgbClr val="FFFFFF"/>
          </a:solidFill>
          <a:ln w="10160">
            <a:solidFill>
              <a:srgbClr val="DADAE0"/>
            </a:solidFill>
            <a:prstDash val="solid"/>
          </a:ln>
          <a:effectLst>
            <a:outerShdw sx="100000" sy="100000" kx="0" ky="0" algn="bl" rotWithShape="0" blurRad="25400" dist="12700" dir="2700000">
              <a:srgbClr val="000000">
                <a:alpha val="12000"/>
              </a:srgbClr>
            </a:outerShdw>
          </a:effectLst>
        </p:spPr>
        <p:txBody>
          <a:bodyPr/>
          <a:p/>
        </p:txBody>
      </p:sp>
      <p:sp>
        <p:nvSpPr>
          <p:cNvPr id="6" name="Shape 4"/>
          <p:cNvSpPr/>
          <p:nvPr/>
        </p:nvSpPr>
        <p:spPr>
          <a:xfrm>
            <a:off x="603504" y="1938528"/>
            <a:ext cx="3182112" cy="530352"/>
          </a:xfrm>
          <a:prstGeom prst="rect">
            <a:avLst/>
          </a:prstGeom>
          <a:solidFill>
            <a:srgbClr val="1600FF"/>
          </a:solidFill>
          <a:ln w="12700">
            <a:solidFill>
              <a:srgbClr val="1600FF"/>
            </a:solidFill>
            <a:prstDash val="solid"/>
          </a:ln>
        </p:spPr>
        <p:txBody>
          <a:bodyPr/>
          <a:p/>
        </p:txBody>
      </p:sp>
      <p:sp>
        <p:nvSpPr>
          <p:cNvPr id="7" name="Text 5"/>
          <p:cNvSpPr/>
          <p:nvPr/>
        </p:nvSpPr>
        <p:spPr>
          <a:xfrm>
            <a:off x="786384" y="2057400"/>
            <a:ext cx="2651760" cy="237744"/>
          </a:xfrm>
          <a:prstGeom prst="rect">
            <a:avLst/>
          </a:prstGeom>
          <a:noFill/>
          <a:ln/>
        </p:spPr>
        <p:txBody>
          <a:bodyPr wrap="square" lIns="0" tIns="0" rIns="0" bIns="0" rtlCol="0" anchor="ctr"/>
          <a:lstStyle/>
          <a:p>
            <a:pPr indent="0" marL="0">
              <a:buNone/>
            </a:pPr>
            <a:r>
              <a:rPr lang="en-US" sz="1400" b="1" dirty="0">
                <a:solidFill>
                  <a:srgbClr val="FFFFFF"/>
                </a:solidFill>
                <a:latin typeface="Inter"/>
              </a:rPr>
              <a:t>01  Explore</a:t>
            </a:r>
            <a:endParaRPr lang="en-US" sz="1400" dirty="0"/>
          </a:p>
        </p:txBody>
      </p:sp>
      <p:sp>
        <p:nvSpPr>
          <p:cNvPr id="8" name="Text 6"/>
          <p:cNvSpPr/>
          <p:nvPr/>
        </p:nvSpPr>
        <p:spPr>
          <a:xfrm>
            <a:off x="822960" y="2724912"/>
            <a:ext cx="2743200" cy="1463040"/>
          </a:xfrm>
          <a:prstGeom prst="rect">
            <a:avLst/>
          </a:prstGeom>
          <a:noFill/>
          <a:ln/>
        </p:spPr>
        <p:txBody>
          <a:bodyPr wrap="square" lIns="0" tIns="0" rIns="0" bIns="0" rtlCol="0" anchor="ctr">
            <a:normAutofit/>
          </a:bodyPr>
          <a:lstStyle/>
          <a:p>
            <a:pPr indent="0" marL="0">
              <a:buNone/>
            </a:pPr>
            <a:r>
              <a:rPr lang="en-US" sz="1410" dirty="0">
                <a:solidFill>
                  <a:srgbClr val="64646B"/>
                </a:solidFill>
                <a:latin typeface="Inter"/>
              </a:rPr>
              <a:t>Conduct EDA, assess data quality, identify risk indicators and organize useful signals for analysis.</a:t>
            </a:r>
            <a:endParaRPr lang="en-US" sz="1410" dirty="0"/>
          </a:p>
        </p:txBody>
      </p:sp>
      <p:sp>
        <p:nvSpPr>
          <p:cNvPr id="15" name="Shape 13"/>
          <p:cNvSpPr/>
          <p:nvPr/>
        </p:nvSpPr>
        <p:spPr>
          <a:xfrm>
            <a:off x="4069080" y="1938528"/>
            <a:ext cx="3182112" cy="3611880"/>
          </a:xfrm>
          <a:prstGeom prst="roundRect">
            <a:avLst>
              <a:gd name="adj" fmla="val 2299"/>
            </a:avLst>
          </a:prstGeom>
          <a:solidFill>
            <a:srgbClr val="FFFFFF"/>
          </a:solidFill>
          <a:ln w="10160">
            <a:solidFill>
              <a:srgbClr val="DADAE0"/>
            </a:solidFill>
            <a:prstDash val="solid"/>
          </a:ln>
          <a:effectLst>
            <a:outerShdw sx="100000" sy="100000" kx="0" ky="0" algn="bl" rotWithShape="0" blurRad="25400" dist="12700" dir="2700000">
              <a:srgbClr val="000000">
                <a:alpha val="12000"/>
              </a:srgbClr>
            </a:outerShdw>
          </a:effectLst>
        </p:spPr>
        <p:txBody>
          <a:bodyPr/>
          <a:p/>
        </p:txBody>
      </p:sp>
      <p:sp>
        <p:nvSpPr>
          <p:cNvPr id="16" name="Shape 14"/>
          <p:cNvSpPr/>
          <p:nvPr/>
        </p:nvSpPr>
        <p:spPr>
          <a:xfrm>
            <a:off x="4069080" y="1938528"/>
            <a:ext cx="3182112" cy="530352"/>
          </a:xfrm>
          <a:prstGeom prst="rect">
            <a:avLst/>
          </a:prstGeom>
          <a:solidFill>
            <a:srgbClr val="3B36FF"/>
          </a:solidFill>
          <a:ln w="12700">
            <a:solidFill>
              <a:srgbClr val="3B36FF"/>
            </a:solidFill>
            <a:prstDash val="solid"/>
          </a:ln>
        </p:spPr>
        <p:txBody>
          <a:bodyPr/>
          <a:p/>
        </p:txBody>
      </p:sp>
      <p:sp>
        <p:nvSpPr>
          <p:cNvPr id="17" name="Text 15"/>
          <p:cNvSpPr/>
          <p:nvPr/>
        </p:nvSpPr>
        <p:spPr>
          <a:xfrm>
            <a:off x="4251960" y="2057400"/>
            <a:ext cx="2651760" cy="237744"/>
          </a:xfrm>
          <a:prstGeom prst="rect">
            <a:avLst/>
          </a:prstGeom>
          <a:noFill/>
          <a:ln/>
        </p:spPr>
        <p:txBody>
          <a:bodyPr wrap="square" lIns="0" tIns="0" rIns="0" bIns="0" rtlCol="0" anchor="ctr"/>
          <a:lstStyle/>
          <a:p>
            <a:pPr indent="0" marL="0">
              <a:buNone/>
            </a:pPr>
            <a:r>
              <a:rPr lang="en-US" sz="1400" b="1" dirty="0">
                <a:solidFill>
                  <a:srgbClr val="FFFFFF"/>
                </a:solidFill>
                <a:latin typeface="Inter"/>
              </a:rPr>
              <a:t>02  Model</a:t>
            </a:r>
            <a:endParaRPr lang="en-US" sz="1400" dirty="0"/>
          </a:p>
        </p:txBody>
      </p:sp>
      <p:sp>
        <p:nvSpPr>
          <p:cNvPr id="18" name="Text 16"/>
          <p:cNvSpPr/>
          <p:nvPr/>
        </p:nvSpPr>
        <p:spPr>
          <a:xfrm>
            <a:off x="4288536" y="2724912"/>
            <a:ext cx="2743200" cy="1463040"/>
          </a:xfrm>
          <a:prstGeom prst="rect">
            <a:avLst/>
          </a:prstGeom>
          <a:noFill/>
          <a:ln/>
        </p:spPr>
        <p:txBody>
          <a:bodyPr wrap="square" lIns="0" tIns="0" rIns="0" bIns="0" rtlCol="0" anchor="ctr">
            <a:normAutofit/>
          </a:bodyPr>
          <a:lstStyle/>
          <a:p>
            <a:pPr indent="0" marL="0">
              <a:buNone/>
            </a:pPr>
            <a:r>
              <a:rPr lang="en-US" sz="1410" dirty="0">
                <a:solidFill>
                  <a:srgbClr val="64646B"/>
                </a:solidFill>
                <a:latin typeface="Inter"/>
              </a:rPr>
              <a:t>Propose a no-code predictive modeling framework and think through model selection and validation.</a:t>
            </a:r>
            <a:endParaRPr lang="en-US" sz="1410" dirty="0"/>
          </a:p>
        </p:txBody>
      </p:sp>
      <p:sp>
        <p:nvSpPr>
          <p:cNvPr id="25" name="Shape 23"/>
          <p:cNvSpPr/>
          <p:nvPr/>
        </p:nvSpPr>
        <p:spPr>
          <a:xfrm>
            <a:off x="7534656" y="1938528"/>
            <a:ext cx="3182112" cy="3611880"/>
          </a:xfrm>
          <a:prstGeom prst="roundRect">
            <a:avLst>
              <a:gd name="adj" fmla="val 2299"/>
            </a:avLst>
          </a:prstGeom>
          <a:solidFill>
            <a:srgbClr val="FFFFFF"/>
          </a:solidFill>
          <a:ln w="10160">
            <a:solidFill>
              <a:srgbClr val="DADAE0"/>
            </a:solidFill>
            <a:prstDash val="solid"/>
          </a:ln>
          <a:effectLst>
            <a:outerShdw sx="100000" sy="100000" kx="0" ky="0" algn="bl" rotWithShape="0" blurRad="25400" dist="12700" dir="2700000">
              <a:srgbClr val="000000">
                <a:alpha val="12000"/>
              </a:srgbClr>
            </a:outerShdw>
          </a:effectLst>
        </p:spPr>
        <p:txBody>
          <a:bodyPr/>
          <a:p/>
        </p:txBody>
      </p:sp>
      <p:sp>
        <p:nvSpPr>
          <p:cNvPr id="26" name="Shape 24"/>
          <p:cNvSpPr/>
          <p:nvPr/>
        </p:nvSpPr>
        <p:spPr>
          <a:xfrm>
            <a:off x="7534656" y="1938528"/>
            <a:ext cx="3182112" cy="530352"/>
          </a:xfrm>
          <a:prstGeom prst="rect">
            <a:avLst/>
          </a:prstGeom>
          <a:solidFill>
            <a:srgbClr val="625EFF"/>
          </a:solidFill>
          <a:ln w="12700">
            <a:solidFill>
              <a:srgbClr val="625EFF"/>
            </a:solidFill>
            <a:prstDash val="solid"/>
          </a:ln>
        </p:spPr>
        <p:txBody>
          <a:bodyPr/>
          <a:p/>
        </p:txBody>
      </p:sp>
      <p:sp>
        <p:nvSpPr>
          <p:cNvPr id="27" name="Text 25"/>
          <p:cNvSpPr/>
          <p:nvPr/>
        </p:nvSpPr>
        <p:spPr>
          <a:xfrm>
            <a:off x="7717536" y="2057400"/>
            <a:ext cx="2651760" cy="237744"/>
          </a:xfrm>
          <a:prstGeom prst="rect">
            <a:avLst/>
          </a:prstGeom>
          <a:noFill/>
          <a:ln/>
        </p:spPr>
        <p:txBody>
          <a:bodyPr wrap="square" lIns="0" tIns="0" rIns="0" bIns="0" rtlCol="0" anchor="ctr"/>
          <a:lstStyle/>
          <a:p>
            <a:pPr indent="0" marL="0">
              <a:buNone/>
            </a:pPr>
            <a:r>
              <a:rPr lang="en-US" sz="1400" b="1" dirty="0">
                <a:solidFill>
                  <a:srgbClr val="FFFFFF"/>
                </a:solidFill>
                <a:latin typeface="Inter"/>
              </a:rPr>
              <a:t>03  Strategize</a:t>
            </a:r>
            <a:endParaRPr lang="en-US" sz="1400" dirty="0"/>
          </a:p>
        </p:txBody>
      </p:sp>
      <p:sp>
        <p:nvSpPr>
          <p:cNvPr id="28" name="Text 26"/>
          <p:cNvSpPr/>
          <p:nvPr/>
        </p:nvSpPr>
        <p:spPr>
          <a:xfrm>
            <a:off x="7754112" y="2724912"/>
            <a:ext cx="2743200" cy="1463040"/>
          </a:xfrm>
          <a:prstGeom prst="rect">
            <a:avLst/>
          </a:prstGeom>
          <a:noFill/>
          <a:ln/>
        </p:spPr>
        <p:txBody>
          <a:bodyPr wrap="square" lIns="0" tIns="0" rIns="0" bIns="0" rtlCol="0" anchor="ctr">
            <a:normAutofit/>
          </a:bodyPr>
          <a:lstStyle/>
          <a:p>
            <a:pPr indent="0" marL="0">
              <a:buNone/>
            </a:pPr>
            <a:r>
              <a:rPr lang="en-US" sz="1410" dirty="0">
                <a:solidFill>
                  <a:srgbClr val="64646B"/>
                </a:solidFill>
                <a:latin typeface="Inter"/>
              </a:rPr>
              <a:t>Design an AI-driven collections strategy using agentic AI and automation, with ethics and compliance in scope.</a:t>
            </a:r>
            <a:endParaRPr lang="en-US" sz="1410" dirty="0"/>
          </a:p>
        </p:txBody>
      </p:sp>
      <p:sp>
        <p:nvSpPr>
          <p:cNvPr id="35" name="Text 33"/>
          <p:cNvSpPr/>
          <p:nvPr/>
        </p:nvSpPr>
        <p:spPr>
          <a:xfrm>
            <a:off x="621792" y="5870448"/>
            <a:ext cx="10515600" cy="201168"/>
          </a:xfrm>
          <a:prstGeom prst="rect">
            <a:avLst/>
          </a:prstGeom>
          <a:noFill/>
          <a:ln/>
        </p:spPr>
        <p:txBody>
          <a:bodyPr wrap="square" lIns="0" tIns="0" rIns="0" bIns="0" rtlCol="0" anchor="t">
            <a:normAutofit/>
          </a:bodyPr>
          <a:lstStyle/>
          <a:p>
            <a:pPr algn="ctr" indent="0" marL="0">
              <a:buNone/>
            </a:pPr>
            <a:r>
              <a:rPr lang="en-US" sz="1150" dirty="0">
                <a:solidFill>
                  <a:srgbClr val="6C707A"/>
                </a:solidFill>
                <a:latin typeface="Inter" pitchFamily="34" charset="0"/>
                <a:ea typeface="Arial" pitchFamily="34" charset="-122"/>
                <a:cs typeface="Arial" pitchFamily="34" charset="-120"/>
              </a:rPr>
              <a:t>The three stages connect analytical evidence with a practical business strategy.</a:t>
            </a:r>
            <a:endParaRPr lang="en-US" sz="12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Arial"/>
                <a:ea typeface="Arial"/>
                <a:cs typeface="Arial"/>
              </a:defRPr>
            </a:lvl1pPr>
          </a:lstStyle>
          <a:p>
            <a:pPr algn="l"/>
            <a:fld id="{F7021451-1387-4CA6-816F-3879F97B5CBC}" type="slidenum">
              <a:rPr b="0" lang="en-US"/>
              <a:t>3</a:t>
            </a:fld>
            <a:endParaRPr lang="en-US"/>
          </a:p>
        </p:txBody>
      </p:sp>
      <p:sp>
        <p:nvSpPr>
          <p:cNvPr id="36" name="Rounded Rectangle 35"/>
          <p:cNvSpPr/>
          <p:nvPr/>
        </p:nvSpPr>
        <p:spPr>
          <a:xfrm>
            <a:off x="822960" y="4800600"/>
            <a:ext cx="841248" cy="274320"/>
          </a:xfrm>
          <a:prstGeom prst="roundRect">
            <a:avLst/>
          </a:prstGeom>
          <a:solidFill>
            <a:srgbClr val="F2F2F5"/>
          </a:solidFill>
          <a:ln w="11430">
            <a:solidFill>
              <a:srgbClr val="1600FF"/>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9144" bIns="9144"/>
          <a:lstStyle/>
          <a:p>
            <a:pPr algn="ctr">
              <a:spcAft>
                <a:spcPts val="0"/>
              </a:spcAft>
            </a:pPr>
            <a:r>
              <a:rPr sz="900" b="1">
                <a:solidFill>
                  <a:srgbClr val="1600FF"/>
                </a:solidFill>
                <a:latin typeface="Inter"/>
              </a:rPr>
              <a:t>EDA</a:t>
            </a:r>
          </a:p>
        </p:txBody>
      </p:sp>
      <p:sp>
        <p:nvSpPr>
          <p:cNvPr id="37" name="Rounded Rectangle 36"/>
          <p:cNvSpPr/>
          <p:nvPr/>
        </p:nvSpPr>
        <p:spPr>
          <a:xfrm>
            <a:off x="1783080" y="4800600"/>
            <a:ext cx="1325880" cy="274320"/>
          </a:xfrm>
          <a:prstGeom prst="roundRect">
            <a:avLst/>
          </a:prstGeom>
          <a:solidFill>
            <a:srgbClr val="F2F2F5"/>
          </a:solidFill>
          <a:ln w="11430">
            <a:solidFill>
              <a:srgbClr val="1600FF"/>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9144" bIns="9144"/>
          <a:lstStyle/>
          <a:p>
            <a:pPr algn="ctr">
              <a:spcAft>
                <a:spcPts val="0"/>
              </a:spcAft>
            </a:pPr>
            <a:r>
              <a:rPr sz="900" b="1">
                <a:solidFill>
                  <a:srgbClr val="1600FF"/>
                </a:solidFill>
                <a:latin typeface="Inter"/>
              </a:rPr>
              <a:t>DATA QUALITY</a:t>
            </a:r>
          </a:p>
        </p:txBody>
      </p:sp>
      <p:sp>
        <p:nvSpPr>
          <p:cNvPr id="38" name="Rounded Rectangle 37"/>
          <p:cNvSpPr/>
          <p:nvPr/>
        </p:nvSpPr>
        <p:spPr>
          <a:xfrm>
            <a:off x="1325880" y="5157216"/>
            <a:ext cx="1828800" cy="274320"/>
          </a:xfrm>
          <a:prstGeom prst="roundRect">
            <a:avLst/>
          </a:prstGeom>
          <a:solidFill>
            <a:srgbClr val="F2F2F5"/>
          </a:solidFill>
          <a:ln w="11430">
            <a:solidFill>
              <a:srgbClr val="1600FF"/>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9144" bIns="9144"/>
          <a:lstStyle/>
          <a:p>
            <a:pPr algn="ctr">
              <a:spcAft>
                <a:spcPts val="0"/>
              </a:spcAft>
            </a:pPr>
            <a:r>
              <a:rPr sz="900" b="1">
                <a:solidFill>
                  <a:srgbClr val="1600FF"/>
                </a:solidFill>
                <a:latin typeface="Inter"/>
              </a:rPr>
              <a:t>RISK INDICATORS</a:t>
            </a:r>
          </a:p>
        </p:txBody>
      </p:sp>
      <p:sp>
        <p:nvSpPr>
          <p:cNvPr id="39" name="Rounded Rectangle 38"/>
          <p:cNvSpPr/>
          <p:nvPr/>
        </p:nvSpPr>
        <p:spPr>
          <a:xfrm>
            <a:off x="4297680" y="4800600"/>
            <a:ext cx="1783080" cy="274320"/>
          </a:xfrm>
          <a:prstGeom prst="roundRect">
            <a:avLst/>
          </a:prstGeom>
          <a:solidFill>
            <a:srgbClr val="F2F2F5"/>
          </a:solidFill>
          <a:ln w="11430">
            <a:solidFill>
              <a:srgbClr val="1600FF"/>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9144" bIns="9144"/>
          <a:lstStyle/>
          <a:p>
            <a:pPr algn="ctr">
              <a:spcAft>
                <a:spcPts val="0"/>
              </a:spcAft>
            </a:pPr>
            <a:r>
              <a:rPr sz="830" b="1">
                <a:solidFill>
                  <a:srgbClr val="1600FF"/>
                </a:solidFill>
                <a:latin typeface="Inter"/>
              </a:rPr>
              <a:t>PREDICTIVE ANALYTICS</a:t>
            </a:r>
          </a:p>
        </p:txBody>
      </p:sp>
      <p:sp>
        <p:nvSpPr>
          <p:cNvPr id="40" name="Rounded Rectangle 39"/>
          <p:cNvSpPr/>
          <p:nvPr/>
        </p:nvSpPr>
        <p:spPr>
          <a:xfrm>
            <a:off x="4590288" y="5157216"/>
            <a:ext cx="1508760" cy="274320"/>
          </a:xfrm>
          <a:prstGeom prst="roundRect">
            <a:avLst/>
          </a:prstGeom>
          <a:solidFill>
            <a:srgbClr val="F2F2F5"/>
          </a:solidFill>
          <a:ln w="11430">
            <a:solidFill>
              <a:srgbClr val="1600FF"/>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9144" bIns="9144"/>
          <a:lstStyle/>
          <a:p>
            <a:pPr algn="ctr">
              <a:spcAft>
                <a:spcPts val="0"/>
              </a:spcAft>
            </a:pPr>
            <a:r>
              <a:rPr sz="830" b="1">
                <a:solidFill>
                  <a:srgbClr val="1600FF"/>
                </a:solidFill>
                <a:latin typeface="Inter"/>
              </a:rPr>
              <a:t>MODEL VALIDATION</a:t>
            </a:r>
          </a:p>
        </p:txBody>
      </p:sp>
      <p:sp>
        <p:nvSpPr>
          <p:cNvPr id="41" name="Rounded Rectangle 40"/>
          <p:cNvSpPr/>
          <p:nvPr/>
        </p:nvSpPr>
        <p:spPr>
          <a:xfrm>
            <a:off x="7754112" y="4800600"/>
            <a:ext cx="1097280" cy="274320"/>
          </a:xfrm>
          <a:prstGeom prst="roundRect">
            <a:avLst/>
          </a:prstGeom>
          <a:solidFill>
            <a:srgbClr val="F2F2F5"/>
          </a:solidFill>
          <a:ln w="11430">
            <a:solidFill>
              <a:srgbClr val="1600FF"/>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9144" bIns="9144"/>
          <a:lstStyle/>
          <a:p>
            <a:pPr algn="ctr">
              <a:spcAft>
                <a:spcPts val="0"/>
              </a:spcAft>
            </a:pPr>
            <a:r>
              <a:rPr sz="900" b="1">
                <a:solidFill>
                  <a:srgbClr val="1600FF"/>
                </a:solidFill>
                <a:latin typeface="Inter"/>
              </a:rPr>
              <a:t>AI STRATEGY</a:t>
            </a:r>
          </a:p>
        </p:txBody>
      </p:sp>
      <p:sp>
        <p:nvSpPr>
          <p:cNvPr id="42" name="Rounded Rectangle 41"/>
          <p:cNvSpPr/>
          <p:nvPr/>
        </p:nvSpPr>
        <p:spPr>
          <a:xfrm>
            <a:off x="8988552" y="4800600"/>
            <a:ext cx="1554480" cy="274320"/>
          </a:xfrm>
          <a:prstGeom prst="roundRect">
            <a:avLst/>
          </a:prstGeom>
          <a:solidFill>
            <a:srgbClr val="F2F2F5"/>
          </a:solidFill>
          <a:ln w="11430">
            <a:solidFill>
              <a:srgbClr val="1600FF"/>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9144" bIns="9144"/>
          <a:lstStyle/>
          <a:p>
            <a:pPr algn="ctr">
              <a:spcAft>
                <a:spcPts val="0"/>
              </a:spcAft>
            </a:pPr>
            <a:r>
              <a:rPr sz="800" b="1">
                <a:solidFill>
                  <a:srgbClr val="1600FF"/>
                </a:solidFill>
                <a:latin typeface="Inter"/>
              </a:rPr>
              <a:t>PROCESS AUTOMATION</a:t>
            </a:r>
          </a:p>
        </p:txBody>
      </p:sp>
      <p:sp>
        <p:nvSpPr>
          <p:cNvPr id="43" name="Rounded Rectangle 42"/>
          <p:cNvSpPr/>
          <p:nvPr/>
        </p:nvSpPr>
        <p:spPr>
          <a:xfrm>
            <a:off x="8247888" y="5157216"/>
            <a:ext cx="1325880" cy="274320"/>
          </a:xfrm>
          <a:prstGeom prst="roundRect">
            <a:avLst/>
          </a:prstGeom>
          <a:solidFill>
            <a:srgbClr val="F2F2F5"/>
          </a:solidFill>
          <a:ln w="11430">
            <a:solidFill>
              <a:srgbClr val="1600FF"/>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9144" bIns="9144"/>
          <a:lstStyle/>
          <a:p>
            <a:pPr algn="ctr">
              <a:spcAft>
                <a:spcPts val="0"/>
              </a:spcAft>
            </a:pPr>
            <a:r>
              <a:rPr sz="830" b="1">
                <a:solidFill>
                  <a:srgbClr val="1600FF"/>
                </a:solidFill>
                <a:latin typeface="Inter"/>
              </a:rPr>
              <a:t>COMPLIANCE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777240" cy="502920"/>
          </a:xfrm>
          <a:prstGeom prst="rect">
            <a:avLst/>
          </a:prstGeom>
          <a:noFill/>
          <a:ln/>
        </p:spPr>
        <p:txBody>
          <a:bodyPr wrap="square" lIns="0" tIns="0" rIns="0" bIns="0" rtlCol="0" anchor="ctr"/>
          <a:lstStyle/>
          <a:p>
            <a:pPr indent="0" marL="0">
              <a:buNone/>
            </a:pPr>
            <a:r>
              <a:rPr lang="en-US" sz="2600" b="1" spc="50" kern="0" dirty="0">
                <a:solidFill>
                  <a:srgbClr val="1600FF"/>
                </a:solidFill>
                <a:latin typeface="Inter" pitchFamily="34" charset="0"/>
                <a:ea typeface="Arial Narrow" pitchFamily="34" charset="-122"/>
                <a:cs typeface="Arial Narrow" pitchFamily="34" charset="-120"/>
              </a:rPr>
              <a:t>03</a:t>
            </a:r>
            <a:endParaRPr lang="en-US" sz="2600" dirty="0"/>
          </a:p>
        </p:txBody>
      </p:sp>
      <p:sp>
        <p:nvSpPr>
          <p:cNvPr id="3" name="Text 1"/>
          <p:cNvSpPr/>
          <p:nvPr/>
        </p:nvSpPr>
        <p:spPr>
          <a:xfrm>
            <a:off x="1234440" y="713232"/>
            <a:ext cx="10241280" cy="658368"/>
          </a:xfrm>
          <a:prstGeom prst="rect">
            <a:avLst/>
          </a:prstGeom>
          <a:noFill/>
          <a:ln/>
        </p:spPr>
        <p:txBody>
          <a:bodyPr wrap="square" lIns="0" tIns="0" rIns="0" bIns="0" rtlCol="0" anchor="ctr">
            <a:normAutofit/>
          </a:bodyPr>
          <a:lstStyle/>
          <a:p>
            <a:pPr indent="0" marL="0">
              <a:buNone/>
            </a:pPr>
            <a:r>
              <a:rPr lang="en-US" sz="3100" b="1" dirty="0">
                <a:solidFill>
                  <a:srgbClr val="17171A"/>
                </a:solidFill>
                <a:latin typeface="Inter" pitchFamily="34" charset="0"/>
                <a:ea typeface="Arial Narrow" pitchFamily="34" charset="-122"/>
                <a:cs typeface="Arial Narrow" pitchFamily="34" charset="-120"/>
              </a:rPr>
              <a:t>Analytical Workflow</a:t>
            </a:r>
            <a:endParaRPr lang="en-US" sz="3100" dirty="0"/>
          </a:p>
        </p:txBody>
      </p:sp>
      <p:sp>
        <p:nvSpPr>
          <p:cNvPr id="4" name="Text 2"/>
          <p:cNvSpPr/>
          <p:nvPr/>
        </p:nvSpPr>
        <p:spPr>
          <a:xfrm>
            <a:off x="1243584" y="1353312"/>
            <a:ext cx="8046720" cy="219456"/>
          </a:xfrm>
          <a:prstGeom prst="rect">
            <a:avLst/>
          </a:prstGeom>
          <a:noFill/>
          <a:ln/>
        </p:spPr>
        <p:txBody>
          <a:bodyPr wrap="square" lIns="0" tIns="0" rIns="0" bIns="0" rtlCol="0" anchor="ctr"/>
          <a:lstStyle/>
          <a:p>
            <a:pPr indent="0" marL="0">
              <a:buNone/>
            </a:pPr>
            <a:r>
              <a:rPr lang="en-US" sz="850" b="1" spc="140" kern="0" dirty="0">
                <a:solidFill>
                  <a:srgbClr val="1600FF"/>
                </a:solidFill>
                <a:latin typeface="Inter"/>
              </a:rPr>
              <a:t>HOW THE PIECES FIT TOGETHER</a:t>
            </a:r>
            <a:endParaRPr lang="en-US" sz="850" dirty="0"/>
          </a:p>
        </p:txBody>
      </p:sp>
      <p:sp>
        <p:nvSpPr>
          <p:cNvPr id="5" name="Shape 3"/>
          <p:cNvSpPr/>
          <p:nvPr/>
        </p:nvSpPr>
        <p:spPr>
          <a:xfrm>
            <a:off x="603504" y="1883664"/>
            <a:ext cx="3072384" cy="1426464"/>
          </a:xfrm>
          <a:prstGeom prst="roundRect">
            <a:avLst>
              <a:gd name="adj" fmla="val 5128"/>
            </a:avLst>
          </a:prstGeom>
          <a:solidFill>
            <a:srgbClr val="FFFFFF"/>
          </a:solidFill>
          <a:ln w="10160">
            <a:solidFill>
              <a:srgbClr val="DADAE0"/>
            </a:solidFill>
            <a:prstDash val="solid"/>
          </a:ln>
        </p:spPr>
        <p:txBody>
          <a:bodyPr/>
          <a:p/>
        </p:txBody>
      </p:sp>
      <p:sp>
        <p:nvSpPr>
          <p:cNvPr id="6" name="Text 4"/>
          <p:cNvSpPr/>
          <p:nvPr/>
        </p:nvSpPr>
        <p:spPr>
          <a:xfrm>
            <a:off x="768096" y="2057400"/>
            <a:ext cx="457200" cy="228600"/>
          </a:xfrm>
          <a:prstGeom prst="rect">
            <a:avLst/>
          </a:prstGeom>
          <a:noFill/>
          <a:ln/>
        </p:spPr>
        <p:txBody>
          <a:bodyPr wrap="square" lIns="0" tIns="0" rIns="0" bIns="0" rtlCol="0" anchor="ctr"/>
          <a:lstStyle/>
          <a:p>
            <a:pPr indent="0" marL="0">
              <a:buNone/>
            </a:pPr>
            <a:r>
              <a:rPr lang="en-US" sz="1400" b="1" dirty="0">
                <a:solidFill>
                  <a:srgbClr val="1600FF"/>
                </a:solidFill>
                <a:latin typeface="Inter"/>
              </a:rPr>
              <a:t>01</a:t>
            </a:r>
            <a:endParaRPr lang="en-US" sz="1400" dirty="0"/>
          </a:p>
        </p:txBody>
      </p:sp>
      <p:sp>
        <p:nvSpPr>
          <p:cNvPr id="7" name="Text 5"/>
          <p:cNvSpPr/>
          <p:nvPr/>
        </p:nvSpPr>
        <p:spPr>
          <a:xfrm>
            <a:off x="1261872" y="2048256"/>
            <a:ext cx="2084832" cy="274320"/>
          </a:xfrm>
          <a:prstGeom prst="rect">
            <a:avLst/>
          </a:prstGeom>
          <a:noFill/>
          <a:ln/>
        </p:spPr>
        <p:txBody>
          <a:bodyPr wrap="square" lIns="0" tIns="0" rIns="0" bIns="0" rtlCol="0" anchor="ctr"/>
          <a:lstStyle/>
          <a:p>
            <a:pPr indent="0" marL="0">
              <a:buNone/>
            </a:pPr>
            <a:r>
              <a:rPr lang="en-US" sz="1500" b="1" dirty="0">
                <a:solidFill>
                  <a:srgbClr val="17171A"/>
                </a:solidFill>
                <a:latin typeface="Inter"/>
              </a:rPr>
              <a:t>Explore data</a:t>
            </a:r>
            <a:endParaRPr lang="en-US" sz="1500" dirty="0"/>
          </a:p>
        </p:txBody>
      </p:sp>
      <p:sp>
        <p:nvSpPr>
          <p:cNvPr id="8" name="Text 6"/>
          <p:cNvSpPr/>
          <p:nvPr/>
        </p:nvSpPr>
        <p:spPr>
          <a:xfrm>
            <a:off x="768096" y="2468880"/>
            <a:ext cx="2706624" cy="603504"/>
          </a:xfrm>
          <a:prstGeom prst="rect">
            <a:avLst/>
          </a:prstGeom>
          <a:noFill/>
          <a:ln/>
        </p:spPr>
        <p:txBody>
          <a:bodyPr wrap="square" lIns="0" tIns="0" rIns="0" bIns="0" rtlCol="0" anchor="ctr">
            <a:normAutofit/>
          </a:bodyPr>
          <a:lstStyle/>
          <a:p>
            <a:pPr indent="0" marL="0">
              <a:buNone/>
            </a:pPr>
            <a:r>
              <a:rPr lang="en-US" sz="1170" dirty="0">
                <a:solidFill>
                  <a:srgbClr val="64646B"/>
                </a:solidFill>
                <a:latin typeface="Inter"/>
              </a:rPr>
              <a:t>Understand patterns, quality and risk indicators</a:t>
            </a:r>
            <a:endParaRPr lang="en-US" sz="1170" dirty="0"/>
          </a:p>
        </p:txBody>
      </p:sp>
      <p:sp>
        <p:nvSpPr>
          <p:cNvPr id="9" name="Shape 7"/>
          <p:cNvSpPr/>
          <p:nvPr/>
        </p:nvSpPr>
        <p:spPr>
          <a:xfrm>
            <a:off x="4114800" y="1883664"/>
            <a:ext cx="3072384" cy="1426464"/>
          </a:xfrm>
          <a:prstGeom prst="roundRect">
            <a:avLst>
              <a:gd name="adj" fmla="val 5128"/>
            </a:avLst>
          </a:prstGeom>
          <a:solidFill>
            <a:srgbClr val="FFFFFF"/>
          </a:solidFill>
          <a:ln w="10160">
            <a:solidFill>
              <a:srgbClr val="DADAE0"/>
            </a:solidFill>
            <a:prstDash val="solid"/>
          </a:ln>
        </p:spPr>
        <p:txBody>
          <a:bodyPr/>
          <a:p/>
        </p:txBody>
      </p:sp>
      <p:sp>
        <p:nvSpPr>
          <p:cNvPr id="10" name="Text 8"/>
          <p:cNvSpPr/>
          <p:nvPr/>
        </p:nvSpPr>
        <p:spPr>
          <a:xfrm>
            <a:off x="4279392" y="2057400"/>
            <a:ext cx="457200" cy="228600"/>
          </a:xfrm>
          <a:prstGeom prst="rect">
            <a:avLst/>
          </a:prstGeom>
          <a:noFill/>
          <a:ln/>
        </p:spPr>
        <p:txBody>
          <a:bodyPr wrap="square" lIns="0" tIns="0" rIns="0" bIns="0" rtlCol="0" anchor="ctr"/>
          <a:lstStyle/>
          <a:p>
            <a:pPr indent="0" marL="0">
              <a:buNone/>
            </a:pPr>
            <a:r>
              <a:rPr lang="en-US" sz="1400" b="1" dirty="0">
                <a:solidFill>
                  <a:srgbClr val="1600FF"/>
                </a:solidFill>
                <a:latin typeface="Inter"/>
              </a:rPr>
              <a:t>02</a:t>
            </a:r>
            <a:endParaRPr lang="en-US" sz="1400" dirty="0"/>
          </a:p>
        </p:txBody>
      </p:sp>
      <p:sp>
        <p:nvSpPr>
          <p:cNvPr id="11" name="Text 9"/>
          <p:cNvSpPr/>
          <p:nvPr/>
        </p:nvSpPr>
        <p:spPr>
          <a:xfrm>
            <a:off x="4773168" y="2048256"/>
            <a:ext cx="2084832" cy="274320"/>
          </a:xfrm>
          <a:prstGeom prst="rect">
            <a:avLst/>
          </a:prstGeom>
          <a:noFill/>
          <a:ln/>
        </p:spPr>
        <p:txBody>
          <a:bodyPr wrap="square" lIns="0" tIns="0" rIns="0" bIns="0" rtlCol="0" anchor="ctr"/>
          <a:lstStyle/>
          <a:p>
            <a:pPr indent="0" marL="0">
              <a:buNone/>
            </a:pPr>
            <a:r>
              <a:rPr lang="en-US" sz="1500" b="1" dirty="0">
                <a:solidFill>
                  <a:srgbClr val="17171A"/>
                </a:solidFill>
                <a:latin typeface="Inter"/>
              </a:rPr>
              <a:t>Structure insights</a:t>
            </a:r>
            <a:endParaRPr lang="en-US" sz="1500" dirty="0"/>
          </a:p>
        </p:txBody>
      </p:sp>
      <p:sp>
        <p:nvSpPr>
          <p:cNvPr id="12" name="Text 10"/>
          <p:cNvSpPr/>
          <p:nvPr/>
        </p:nvSpPr>
        <p:spPr>
          <a:xfrm>
            <a:off x="4279392" y="2468880"/>
            <a:ext cx="2706624" cy="603504"/>
          </a:xfrm>
          <a:prstGeom prst="rect">
            <a:avLst/>
          </a:prstGeom>
          <a:noFill/>
          <a:ln/>
        </p:spPr>
        <p:txBody>
          <a:bodyPr wrap="square" lIns="0" tIns="0" rIns="0" bIns="0" rtlCol="0" anchor="ctr">
            <a:normAutofit/>
          </a:bodyPr>
          <a:lstStyle/>
          <a:p>
            <a:pPr indent="0" marL="0">
              <a:buNone/>
            </a:pPr>
            <a:r>
              <a:rPr lang="en-US" sz="1170" dirty="0">
                <a:solidFill>
                  <a:srgbClr val="64646B"/>
                </a:solidFill>
                <a:latin typeface="Inter"/>
              </a:rPr>
              <a:t>Turn observations into useful analytical signals</a:t>
            </a:r>
            <a:endParaRPr lang="en-US" sz="1170" dirty="0"/>
          </a:p>
        </p:txBody>
      </p:sp>
      <p:sp>
        <p:nvSpPr>
          <p:cNvPr id="13" name="Shape 11"/>
          <p:cNvSpPr/>
          <p:nvPr/>
        </p:nvSpPr>
        <p:spPr>
          <a:xfrm>
            <a:off x="7626096" y="1883664"/>
            <a:ext cx="3072384" cy="1426464"/>
          </a:xfrm>
          <a:prstGeom prst="roundRect">
            <a:avLst>
              <a:gd name="adj" fmla="val 5128"/>
            </a:avLst>
          </a:prstGeom>
          <a:solidFill>
            <a:srgbClr val="FFFFFF"/>
          </a:solidFill>
          <a:ln w="10160">
            <a:solidFill>
              <a:srgbClr val="DADAE0"/>
            </a:solidFill>
            <a:prstDash val="solid"/>
          </a:ln>
        </p:spPr>
        <p:txBody>
          <a:bodyPr/>
          <a:p/>
        </p:txBody>
      </p:sp>
      <p:sp>
        <p:nvSpPr>
          <p:cNvPr id="14" name="Text 12"/>
          <p:cNvSpPr/>
          <p:nvPr/>
        </p:nvSpPr>
        <p:spPr>
          <a:xfrm>
            <a:off x="7790688" y="2057400"/>
            <a:ext cx="457200" cy="228600"/>
          </a:xfrm>
          <a:prstGeom prst="rect">
            <a:avLst/>
          </a:prstGeom>
          <a:noFill/>
          <a:ln/>
        </p:spPr>
        <p:txBody>
          <a:bodyPr wrap="square" lIns="0" tIns="0" rIns="0" bIns="0" rtlCol="0" anchor="ctr"/>
          <a:lstStyle/>
          <a:p>
            <a:pPr indent="0" marL="0">
              <a:buNone/>
            </a:pPr>
            <a:r>
              <a:rPr lang="en-US" sz="1400" b="1" dirty="0">
                <a:solidFill>
                  <a:srgbClr val="1600FF"/>
                </a:solidFill>
                <a:latin typeface="Inter"/>
              </a:rPr>
              <a:t>03</a:t>
            </a:r>
            <a:endParaRPr lang="en-US" sz="1400" dirty="0"/>
          </a:p>
        </p:txBody>
      </p:sp>
      <p:sp>
        <p:nvSpPr>
          <p:cNvPr id="15" name="Text 13"/>
          <p:cNvSpPr/>
          <p:nvPr/>
        </p:nvSpPr>
        <p:spPr>
          <a:xfrm>
            <a:off x="8284464" y="2048256"/>
            <a:ext cx="2084832" cy="274320"/>
          </a:xfrm>
          <a:prstGeom prst="rect">
            <a:avLst/>
          </a:prstGeom>
          <a:noFill/>
          <a:ln/>
        </p:spPr>
        <p:txBody>
          <a:bodyPr wrap="square" lIns="0" tIns="0" rIns="0" bIns="0" rtlCol="0" anchor="ctr"/>
          <a:lstStyle/>
          <a:p>
            <a:pPr indent="0" marL="0">
              <a:buNone/>
            </a:pPr>
            <a:r>
              <a:rPr lang="en-US" sz="1500" b="1" dirty="0">
                <a:solidFill>
                  <a:srgbClr val="17171A"/>
                </a:solidFill>
                <a:latin typeface="Inter"/>
              </a:rPr>
              <a:t>Define model logic</a:t>
            </a:r>
            <a:endParaRPr lang="en-US" sz="1500" dirty="0"/>
          </a:p>
        </p:txBody>
      </p:sp>
      <p:sp>
        <p:nvSpPr>
          <p:cNvPr id="16" name="Text 14"/>
          <p:cNvSpPr/>
          <p:nvPr/>
        </p:nvSpPr>
        <p:spPr>
          <a:xfrm>
            <a:off x="7790688" y="2468880"/>
            <a:ext cx="2706624" cy="603504"/>
          </a:xfrm>
          <a:prstGeom prst="rect">
            <a:avLst/>
          </a:prstGeom>
          <a:noFill/>
          <a:ln/>
        </p:spPr>
        <p:txBody>
          <a:bodyPr wrap="square" lIns="0" tIns="0" rIns="0" bIns="0" rtlCol="0" anchor="ctr">
            <a:normAutofit/>
          </a:bodyPr>
          <a:lstStyle/>
          <a:p>
            <a:pPr indent="0" marL="0">
              <a:buNone/>
            </a:pPr>
            <a:r>
              <a:rPr lang="en-US" sz="1170" dirty="0">
                <a:solidFill>
                  <a:srgbClr val="64646B"/>
                </a:solidFill>
                <a:latin typeface="Inter"/>
              </a:rPr>
              <a:t>Propose a no-code predictive modeling framework</a:t>
            </a:r>
            <a:endParaRPr lang="en-US" sz="1170" dirty="0"/>
          </a:p>
        </p:txBody>
      </p:sp>
      <p:sp>
        <p:nvSpPr>
          <p:cNvPr id="17" name="Shape 15"/>
          <p:cNvSpPr/>
          <p:nvPr/>
        </p:nvSpPr>
        <p:spPr>
          <a:xfrm>
            <a:off x="603504" y="3776472"/>
            <a:ext cx="3072384" cy="1426464"/>
          </a:xfrm>
          <a:prstGeom prst="roundRect">
            <a:avLst>
              <a:gd name="adj" fmla="val 5128"/>
            </a:avLst>
          </a:prstGeom>
          <a:solidFill>
            <a:srgbClr val="FFFFFF"/>
          </a:solidFill>
          <a:ln w="10160">
            <a:solidFill>
              <a:srgbClr val="DADAE0"/>
            </a:solidFill>
            <a:prstDash val="solid"/>
          </a:ln>
        </p:spPr>
        <p:txBody>
          <a:bodyPr/>
          <a:p/>
        </p:txBody>
      </p:sp>
      <p:sp>
        <p:nvSpPr>
          <p:cNvPr id="18" name="Text 16"/>
          <p:cNvSpPr/>
          <p:nvPr/>
        </p:nvSpPr>
        <p:spPr>
          <a:xfrm>
            <a:off x="768096" y="3950208"/>
            <a:ext cx="457200" cy="228600"/>
          </a:xfrm>
          <a:prstGeom prst="rect">
            <a:avLst/>
          </a:prstGeom>
          <a:noFill/>
          <a:ln/>
        </p:spPr>
        <p:txBody>
          <a:bodyPr wrap="square" lIns="0" tIns="0" rIns="0" bIns="0" rtlCol="0" anchor="ctr"/>
          <a:lstStyle/>
          <a:p>
            <a:pPr indent="0" marL="0">
              <a:buNone/>
            </a:pPr>
            <a:r>
              <a:rPr lang="en-US" sz="1400" b="1" dirty="0">
                <a:solidFill>
                  <a:srgbClr val="1600FF"/>
                </a:solidFill>
                <a:latin typeface="Inter"/>
              </a:rPr>
              <a:t>04</a:t>
            </a:r>
            <a:endParaRPr lang="en-US" sz="1400" dirty="0"/>
          </a:p>
        </p:txBody>
      </p:sp>
      <p:sp>
        <p:nvSpPr>
          <p:cNvPr id="19" name="Text 17"/>
          <p:cNvSpPr/>
          <p:nvPr/>
        </p:nvSpPr>
        <p:spPr>
          <a:xfrm>
            <a:off x="1261872" y="3941064"/>
            <a:ext cx="2084832" cy="274320"/>
          </a:xfrm>
          <a:prstGeom prst="rect">
            <a:avLst/>
          </a:prstGeom>
          <a:noFill/>
          <a:ln/>
        </p:spPr>
        <p:txBody>
          <a:bodyPr wrap="square" lIns="0" tIns="0" rIns="0" bIns="0" rtlCol="0" anchor="ctr"/>
          <a:lstStyle/>
          <a:p>
            <a:pPr indent="0" marL="0">
              <a:buNone/>
            </a:pPr>
            <a:r>
              <a:rPr lang="en-US" sz="1500" b="1" dirty="0">
                <a:solidFill>
                  <a:srgbClr val="17171A"/>
                </a:solidFill>
                <a:latin typeface="Inter"/>
              </a:rPr>
              <a:t>Validate approach</a:t>
            </a:r>
            <a:endParaRPr lang="en-US" sz="1500" dirty="0"/>
          </a:p>
        </p:txBody>
      </p:sp>
      <p:sp>
        <p:nvSpPr>
          <p:cNvPr id="20" name="Text 18"/>
          <p:cNvSpPr/>
          <p:nvPr/>
        </p:nvSpPr>
        <p:spPr>
          <a:xfrm>
            <a:off x="768096" y="4361688"/>
            <a:ext cx="2706624" cy="603504"/>
          </a:xfrm>
          <a:prstGeom prst="rect">
            <a:avLst/>
          </a:prstGeom>
          <a:noFill/>
          <a:ln/>
        </p:spPr>
        <p:txBody>
          <a:bodyPr wrap="square" lIns="0" tIns="0" rIns="0" bIns="0" rtlCol="0" anchor="ctr">
            <a:normAutofit/>
          </a:bodyPr>
          <a:lstStyle/>
          <a:p>
            <a:pPr indent="0" marL="0">
              <a:buNone/>
            </a:pPr>
            <a:r>
              <a:rPr lang="en-US" sz="1170" dirty="0">
                <a:solidFill>
                  <a:srgbClr val="64646B"/>
                </a:solidFill>
                <a:latin typeface="Inter"/>
              </a:rPr>
              <a:t>Consider model selection and evaluation criteria</a:t>
            </a:r>
            <a:endParaRPr lang="en-US" sz="1170" dirty="0"/>
          </a:p>
        </p:txBody>
      </p:sp>
      <p:sp>
        <p:nvSpPr>
          <p:cNvPr id="21" name="Shape 19"/>
          <p:cNvSpPr/>
          <p:nvPr/>
        </p:nvSpPr>
        <p:spPr>
          <a:xfrm>
            <a:off x="4114800" y="3776472"/>
            <a:ext cx="3072384" cy="1426464"/>
          </a:xfrm>
          <a:prstGeom prst="roundRect">
            <a:avLst>
              <a:gd name="adj" fmla="val 5128"/>
            </a:avLst>
          </a:prstGeom>
          <a:solidFill>
            <a:srgbClr val="F0EFFF"/>
          </a:solidFill>
          <a:ln w="10160">
            <a:solidFill>
              <a:srgbClr val="1600FF"/>
            </a:solidFill>
            <a:prstDash val="solid"/>
          </a:ln>
        </p:spPr>
        <p:txBody>
          <a:bodyPr/>
          <a:p/>
        </p:txBody>
      </p:sp>
      <p:sp>
        <p:nvSpPr>
          <p:cNvPr id="22" name="Text 20"/>
          <p:cNvSpPr/>
          <p:nvPr/>
        </p:nvSpPr>
        <p:spPr>
          <a:xfrm>
            <a:off x="4279392" y="3950208"/>
            <a:ext cx="457200" cy="228600"/>
          </a:xfrm>
          <a:prstGeom prst="rect">
            <a:avLst/>
          </a:prstGeom>
          <a:noFill/>
          <a:ln/>
        </p:spPr>
        <p:txBody>
          <a:bodyPr wrap="square" lIns="0" tIns="0" rIns="0" bIns="0" rtlCol="0" anchor="ctr"/>
          <a:lstStyle/>
          <a:p>
            <a:pPr indent="0" marL="0">
              <a:buNone/>
            </a:pPr>
            <a:r>
              <a:rPr lang="en-US" sz="1400" b="1" dirty="0">
                <a:solidFill>
                  <a:srgbClr val="1600FF"/>
                </a:solidFill>
                <a:latin typeface="Inter"/>
              </a:rPr>
              <a:t>05</a:t>
            </a:r>
            <a:endParaRPr lang="en-US" sz="1400" dirty="0"/>
          </a:p>
        </p:txBody>
      </p:sp>
      <p:sp>
        <p:nvSpPr>
          <p:cNvPr id="23" name="Text 21"/>
          <p:cNvSpPr/>
          <p:nvPr/>
        </p:nvSpPr>
        <p:spPr>
          <a:xfrm>
            <a:off x="4773168" y="3941064"/>
            <a:ext cx="2084832" cy="274320"/>
          </a:xfrm>
          <a:prstGeom prst="rect">
            <a:avLst/>
          </a:prstGeom>
          <a:noFill/>
          <a:ln/>
        </p:spPr>
        <p:txBody>
          <a:bodyPr wrap="square" lIns="0" tIns="0" rIns="0" bIns="0" rtlCol="0" anchor="ctr"/>
          <a:lstStyle/>
          <a:p>
            <a:pPr indent="0" marL="0">
              <a:buNone/>
            </a:pPr>
            <a:r>
              <a:rPr lang="en-US" sz="1500" b="1" dirty="0">
                <a:solidFill>
                  <a:srgbClr val="17171A"/>
                </a:solidFill>
                <a:latin typeface="Inter"/>
              </a:rPr>
              <a:t>Design strategy</a:t>
            </a:r>
            <a:endParaRPr lang="en-US" sz="1500" dirty="0"/>
          </a:p>
        </p:txBody>
      </p:sp>
      <p:sp>
        <p:nvSpPr>
          <p:cNvPr id="24" name="Text 22"/>
          <p:cNvSpPr/>
          <p:nvPr/>
        </p:nvSpPr>
        <p:spPr>
          <a:xfrm>
            <a:off x="4279392" y="4361688"/>
            <a:ext cx="2706624" cy="603504"/>
          </a:xfrm>
          <a:prstGeom prst="rect">
            <a:avLst/>
          </a:prstGeom>
          <a:noFill/>
          <a:ln/>
        </p:spPr>
        <p:txBody>
          <a:bodyPr wrap="square" lIns="0" tIns="0" rIns="0" bIns="0" rtlCol="0" anchor="ctr">
            <a:normAutofit/>
          </a:bodyPr>
          <a:lstStyle/>
          <a:p>
            <a:pPr indent="0" marL="0">
              <a:buNone/>
            </a:pPr>
            <a:r>
              <a:rPr lang="en-US" sz="1170" dirty="0">
                <a:solidFill>
                  <a:srgbClr val="64646B"/>
                </a:solidFill>
                <a:latin typeface="Inter"/>
              </a:rPr>
              <a:t>Translate insights into an AI-driven collections approach</a:t>
            </a:r>
            <a:endParaRPr lang="en-US" sz="1170" dirty="0"/>
          </a:p>
        </p:txBody>
      </p:sp>
      <p:sp>
        <p:nvSpPr>
          <p:cNvPr id="25" name="Shape 23"/>
          <p:cNvSpPr/>
          <p:nvPr/>
        </p:nvSpPr>
        <p:spPr>
          <a:xfrm>
            <a:off x="7626096" y="3776472"/>
            <a:ext cx="3072384" cy="1426464"/>
          </a:xfrm>
          <a:prstGeom prst="roundRect">
            <a:avLst>
              <a:gd name="adj" fmla="val 5128"/>
            </a:avLst>
          </a:prstGeom>
          <a:solidFill>
            <a:srgbClr val="FFFFFF"/>
          </a:solidFill>
          <a:ln w="10160">
            <a:solidFill>
              <a:srgbClr val="DADAE0"/>
            </a:solidFill>
            <a:prstDash val="solid"/>
          </a:ln>
        </p:spPr>
        <p:txBody>
          <a:bodyPr/>
          <a:p/>
        </p:txBody>
      </p:sp>
      <p:sp>
        <p:nvSpPr>
          <p:cNvPr id="26" name="Text 24"/>
          <p:cNvSpPr/>
          <p:nvPr/>
        </p:nvSpPr>
        <p:spPr>
          <a:xfrm>
            <a:off x="7790688" y="3950208"/>
            <a:ext cx="457200" cy="228600"/>
          </a:xfrm>
          <a:prstGeom prst="rect">
            <a:avLst/>
          </a:prstGeom>
          <a:noFill/>
          <a:ln/>
        </p:spPr>
        <p:txBody>
          <a:bodyPr wrap="square" lIns="0" tIns="0" rIns="0" bIns="0" rtlCol="0" anchor="ctr"/>
          <a:lstStyle/>
          <a:p>
            <a:pPr indent="0" marL="0">
              <a:buNone/>
            </a:pPr>
            <a:r>
              <a:rPr lang="en-US" sz="1400" b="1" dirty="0">
                <a:solidFill>
                  <a:srgbClr val="1600FF"/>
                </a:solidFill>
                <a:latin typeface="Inter"/>
              </a:rPr>
              <a:t>06</a:t>
            </a:r>
            <a:endParaRPr lang="en-US" sz="1400" dirty="0"/>
          </a:p>
        </p:txBody>
      </p:sp>
      <p:sp>
        <p:nvSpPr>
          <p:cNvPr id="27" name="Text 25"/>
          <p:cNvSpPr/>
          <p:nvPr/>
        </p:nvSpPr>
        <p:spPr>
          <a:xfrm>
            <a:off x="8284464" y="3941064"/>
            <a:ext cx="2084832" cy="274320"/>
          </a:xfrm>
          <a:prstGeom prst="rect">
            <a:avLst/>
          </a:prstGeom>
          <a:noFill/>
          <a:ln/>
        </p:spPr>
        <p:txBody>
          <a:bodyPr wrap="square" lIns="0" tIns="0" rIns="0" bIns="0" rtlCol="0" anchor="ctr"/>
          <a:lstStyle/>
          <a:p>
            <a:pPr indent="0" marL="0">
              <a:buNone/>
            </a:pPr>
            <a:r>
              <a:rPr lang="en-US" sz="1500" b="1" dirty="0">
                <a:solidFill>
                  <a:srgbClr val="17171A"/>
                </a:solidFill>
                <a:latin typeface="Inter"/>
              </a:rPr>
              <a:t>Add safeguards</a:t>
            </a:r>
            <a:endParaRPr lang="en-US" sz="1500" dirty="0"/>
          </a:p>
        </p:txBody>
      </p:sp>
      <p:sp>
        <p:nvSpPr>
          <p:cNvPr id="28" name="Text 26"/>
          <p:cNvSpPr/>
          <p:nvPr/>
        </p:nvSpPr>
        <p:spPr>
          <a:xfrm>
            <a:off x="7790688" y="4361688"/>
            <a:ext cx="2706624" cy="603504"/>
          </a:xfrm>
          <a:prstGeom prst="rect">
            <a:avLst/>
          </a:prstGeom>
          <a:noFill/>
          <a:ln/>
        </p:spPr>
        <p:txBody>
          <a:bodyPr wrap="square" lIns="0" tIns="0" rIns="0" bIns="0" rtlCol="0" anchor="ctr">
            <a:normAutofit/>
          </a:bodyPr>
          <a:lstStyle/>
          <a:p>
            <a:pPr indent="0" marL="0">
              <a:buNone/>
            </a:pPr>
            <a:r>
              <a:rPr lang="en-US" sz="1170" dirty="0">
                <a:solidFill>
                  <a:srgbClr val="64646B"/>
                </a:solidFill>
                <a:latin typeface="Inter"/>
              </a:rPr>
              <a:t>Include ethics, compliance and scalable implementation</a:t>
            </a:r>
            <a:endParaRPr lang="en-US" sz="1170" dirty="0"/>
          </a:p>
        </p:txBody>
      </p:sp>
      <p:sp>
        <p:nvSpPr>
          <p:cNvPr id="29" name="Text 27"/>
          <p:cNvSpPr/>
          <p:nvPr/>
        </p:nvSpPr>
        <p:spPr>
          <a:xfrm>
            <a:off x="1143000" y="5669280"/>
            <a:ext cx="9875520" cy="274320"/>
          </a:xfrm>
          <a:prstGeom prst="rect">
            <a:avLst/>
          </a:prstGeom>
          <a:noFill/>
          <a:ln/>
        </p:spPr>
        <p:txBody>
          <a:bodyPr wrap="square" lIns="0" tIns="0" rIns="0" bIns="0" rtlCol="0" anchor="t">
            <a:normAutofit/>
          </a:bodyPr>
          <a:lstStyle/>
          <a:p>
            <a:pPr algn="ctr" indent="0" marL="0">
              <a:buNone/>
            </a:pPr>
            <a:r>
              <a:rPr lang="en-US" sz="1300" b="1" dirty="0">
                <a:solidFill>
                  <a:srgbClr val="1600FF"/>
                </a:solidFill>
                <a:latin typeface="Inter" pitchFamily="34" charset="0"/>
                <a:ea typeface="Arial" pitchFamily="34" charset="-122"/>
                <a:cs typeface="Arial" pitchFamily="34" charset="-120"/>
              </a:rPr>
              <a:t>Workflow emphasis: analysis → prediction → strategy → responsible implementation</a:t>
            </a:r>
            <a:endParaRPr lang="en-US" sz="130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777240" cy="502920"/>
          </a:xfrm>
          <a:prstGeom prst="rect">
            <a:avLst/>
          </a:prstGeom>
          <a:noFill/>
          <a:ln/>
        </p:spPr>
        <p:txBody>
          <a:bodyPr wrap="square" lIns="0" tIns="0" rIns="0" bIns="0" rtlCol="0" anchor="ctr"/>
          <a:lstStyle/>
          <a:p>
            <a:pPr indent="0" marL="0">
              <a:buNone/>
            </a:pPr>
            <a:r>
              <a:rPr lang="en-US" sz="2600" b="1" spc="50" kern="0" dirty="0">
                <a:solidFill>
                  <a:srgbClr val="1600FF"/>
                </a:solidFill>
                <a:latin typeface="Inter" pitchFamily="34" charset="0"/>
                <a:ea typeface="Arial Narrow" pitchFamily="34" charset="-122"/>
                <a:cs typeface="Arial Narrow" pitchFamily="34" charset="-120"/>
              </a:rPr>
              <a:t>04</a:t>
            </a:r>
            <a:endParaRPr lang="en-US" sz="2600" dirty="0"/>
          </a:p>
        </p:txBody>
      </p:sp>
      <p:sp>
        <p:nvSpPr>
          <p:cNvPr id="3" name="Text 1"/>
          <p:cNvSpPr/>
          <p:nvPr/>
        </p:nvSpPr>
        <p:spPr>
          <a:xfrm>
            <a:off x="1234440" y="713232"/>
            <a:ext cx="10241280" cy="658368"/>
          </a:xfrm>
          <a:prstGeom prst="rect">
            <a:avLst/>
          </a:prstGeom>
          <a:noFill/>
          <a:ln/>
        </p:spPr>
        <p:txBody>
          <a:bodyPr wrap="square" lIns="0" tIns="0" rIns="0" bIns="0" rtlCol="0" anchor="ctr">
            <a:normAutofit/>
          </a:bodyPr>
          <a:lstStyle/>
          <a:p>
            <a:pPr indent="0" marL="0">
              <a:buNone/>
            </a:pPr>
            <a:r>
              <a:rPr lang="en-US" sz="3100" b="1" dirty="0">
                <a:solidFill>
                  <a:srgbClr val="17171A"/>
                </a:solidFill>
                <a:latin typeface="Inter" pitchFamily="34" charset="0"/>
                <a:ea typeface="Arial Narrow" pitchFamily="34" charset="-122"/>
                <a:cs typeface="Arial Narrow" pitchFamily="34" charset="-120"/>
              </a:rPr>
              <a:t>Exploratory Data Analysis</a:t>
            </a:r>
            <a:endParaRPr lang="en-US" sz="3100" dirty="0"/>
          </a:p>
        </p:txBody>
      </p:sp>
      <p:sp>
        <p:nvSpPr>
          <p:cNvPr id="4" name="Text 2"/>
          <p:cNvSpPr/>
          <p:nvPr/>
        </p:nvSpPr>
        <p:spPr>
          <a:xfrm>
            <a:off x="1243584" y="1353312"/>
            <a:ext cx="8046720" cy="219456"/>
          </a:xfrm>
          <a:prstGeom prst="rect">
            <a:avLst/>
          </a:prstGeom>
          <a:noFill/>
          <a:ln/>
        </p:spPr>
        <p:txBody>
          <a:bodyPr wrap="square" lIns="0" tIns="0" rIns="0" bIns="0" rtlCol="0" anchor="ctr"/>
          <a:lstStyle/>
          <a:p>
            <a:pPr indent="0" marL="0">
              <a:buNone/>
            </a:pPr>
            <a:r>
              <a:rPr lang="en-US" sz="850" b="1" spc="140" kern="0" dirty="0">
                <a:solidFill>
                  <a:srgbClr val="1600FF"/>
                </a:solidFill>
                <a:latin typeface="Inter"/>
              </a:rPr>
              <a:t>UNDERSTANDING DATA BEFORE MODELING</a:t>
            </a:r>
            <a:endParaRPr lang="en-US" sz="850" dirty="0"/>
          </a:p>
        </p:txBody>
      </p:sp>
      <p:sp>
        <p:nvSpPr>
          <p:cNvPr id="5" name="Shape 3"/>
          <p:cNvSpPr/>
          <p:nvPr/>
        </p:nvSpPr>
        <p:spPr>
          <a:xfrm>
            <a:off x="603504" y="1828800"/>
            <a:ext cx="4709160" cy="3986784"/>
          </a:xfrm>
          <a:prstGeom prst="roundRect">
            <a:avLst>
              <a:gd name="adj" fmla="val 1835"/>
            </a:avLst>
          </a:prstGeom>
          <a:solidFill>
            <a:srgbClr val="FFFFFF"/>
          </a:solidFill>
          <a:ln w="10160">
            <a:solidFill>
              <a:srgbClr val="DADAE0"/>
            </a:solidFill>
            <a:prstDash val="solid"/>
          </a:ln>
          <a:effectLst>
            <a:outerShdw sx="100000" sy="100000" kx="0" ky="0" algn="bl" rotWithShape="0" blurRad="25400" dist="12700" dir="2700000">
              <a:srgbClr val="000000">
                <a:alpha val="12000"/>
              </a:srgbClr>
            </a:outerShdw>
          </a:effectLst>
        </p:spPr>
        <p:txBody>
          <a:bodyPr/>
          <a:p/>
        </p:txBody>
      </p:sp>
      <p:sp>
        <p:nvSpPr>
          <p:cNvPr id="6" name="Text 4"/>
          <p:cNvSpPr/>
          <p:nvPr/>
        </p:nvSpPr>
        <p:spPr>
          <a:xfrm>
            <a:off x="877824" y="2084832"/>
            <a:ext cx="2286000" cy="310896"/>
          </a:xfrm>
          <a:prstGeom prst="rect">
            <a:avLst/>
          </a:prstGeom>
          <a:noFill/>
          <a:ln/>
        </p:spPr>
        <p:txBody>
          <a:bodyPr wrap="square" lIns="0" tIns="0" rIns="0" bIns="0" rtlCol="0" anchor="ctr"/>
          <a:lstStyle/>
          <a:p>
            <a:pPr indent="0" marL="0">
              <a:buNone/>
            </a:pPr>
            <a:r>
              <a:rPr lang="en-US" sz="2300" b="1" dirty="0">
                <a:solidFill>
                  <a:srgbClr val="17171A"/>
                </a:solidFill>
                <a:latin typeface="Inter" pitchFamily="34" charset="0"/>
                <a:ea typeface="Arial Narrow" pitchFamily="34" charset="-122"/>
                <a:cs typeface="Arial Narrow" pitchFamily="34" charset="-120"/>
              </a:rPr>
              <a:t>What I worked on</a:t>
            </a:r>
            <a:endParaRPr lang="en-US" sz="2300" dirty="0"/>
          </a:p>
        </p:txBody>
      </p:sp>
      <p:sp>
        <p:nvSpPr>
          <p:cNvPr id="7" name="Text 5"/>
          <p:cNvSpPr/>
          <p:nvPr/>
        </p:nvSpPr>
        <p:spPr>
          <a:xfrm>
            <a:off x="896112" y="2633472"/>
            <a:ext cx="3977640" cy="2148840"/>
          </a:xfrm>
          <a:prstGeom prst="rect">
            <a:avLst/>
          </a:prstGeom>
          <a:noFill/>
          <a:ln/>
        </p:spPr>
        <p:txBody>
          <a:bodyPr wrap="square" lIns="0" tIns="0" rIns="0" bIns="0" rtlCol="0" anchor="t">
            <a:normAutofit/>
          </a:bodyPr>
          <a:lstStyle/>
          <a:p>
            <a:pPr marL="177800" indent="-177800">
              <a:buSzPct val="100000"/>
              <a:buChar char="•"/>
            </a:pPr>
            <a:r>
              <a:rPr lang="en-US" sz="1500" dirty="0">
                <a:solidFill>
                  <a:srgbClr val="64646B"/>
                </a:solidFill>
                <a:latin typeface="Inter" pitchFamily="34" charset="0"/>
                <a:ea typeface="Arial" pitchFamily="34" charset="-122"/>
                <a:cs typeface="Arial" pitchFamily="34" charset="-120"/>
              </a:rPr>
              <a:t>Used GenAI tools to support exploratory data analysis (EDA)</a:t>
            </a:r>
            <a:endParaRPr lang="en-US" sz="1500" dirty="0"/>
          </a:p>
          <a:p>
            <a:pPr marL="177800" indent="-177800">
              <a:buSzPct val="100000"/>
              <a:buChar char="•"/>
            </a:pPr>
            <a:r>
              <a:rPr lang="en-US" sz="1500" dirty="0">
                <a:solidFill>
                  <a:srgbClr val="64646B"/>
                </a:solidFill>
                <a:latin typeface="Inter" pitchFamily="34" charset="0"/>
                <a:ea typeface="Arial" pitchFamily="34" charset="-122"/>
                <a:cs typeface="Arial" pitchFamily="34" charset="-120"/>
              </a:rPr>
              <a:t>Assessed data quality before predictive modeling</a:t>
            </a:r>
            <a:endParaRPr lang="en-US" sz="1500" dirty="0"/>
          </a:p>
          <a:p>
            <a:pPr marL="177800" indent="-177800">
              <a:buSzPct val="100000"/>
              <a:buChar char="•"/>
            </a:pPr>
            <a:r>
              <a:rPr lang="en-US" sz="1500" dirty="0">
                <a:solidFill>
                  <a:srgbClr val="64646B"/>
                </a:solidFill>
                <a:latin typeface="Inter" pitchFamily="34" charset="0"/>
                <a:ea typeface="Arial" pitchFamily="34" charset="-122"/>
                <a:cs typeface="Arial" pitchFamily="34" charset="-120"/>
              </a:rPr>
              <a:t>Looked for indicators associated with customer risk</a:t>
            </a:r>
            <a:endParaRPr lang="en-US" sz="1500" dirty="0"/>
          </a:p>
          <a:p>
            <a:pPr marL="177800" indent="-177800">
              <a:buSzPct val="100000"/>
              <a:buChar char="•"/>
            </a:pPr>
            <a:r>
              <a:rPr lang="en-US" sz="1500" dirty="0">
                <a:solidFill>
                  <a:srgbClr val="64646B"/>
                </a:solidFill>
                <a:latin typeface="Inter" pitchFamily="34" charset="0"/>
                <a:ea typeface="Arial" pitchFamily="34" charset="-122"/>
                <a:cs typeface="Arial" pitchFamily="34" charset="-120"/>
              </a:rPr>
              <a:t>Structured findings into insights that could inform prediction</a:t>
            </a:r>
            <a:endParaRPr lang="en-US" sz="1500" dirty="0"/>
          </a:p>
        </p:txBody>
      </p:sp>
      <p:sp>
        <p:nvSpPr>
          <p:cNvPr id="8" name="Shape 6"/>
          <p:cNvSpPr/>
          <p:nvPr/>
        </p:nvSpPr>
        <p:spPr>
          <a:xfrm>
            <a:off x="877824" y="5175504"/>
            <a:ext cx="1143000" cy="274320"/>
          </a:xfrm>
          <a:prstGeom prst="roundRect">
            <a:avLst>
              <a:gd name="adj" fmla="val 43333"/>
            </a:avLst>
          </a:prstGeom>
          <a:solidFill>
            <a:srgbClr val="F2F2F5"/>
          </a:solidFill>
          <a:ln w="11430">
            <a:solidFill>
              <a:srgbClr val="1600FF"/>
            </a:solidFill>
            <a:prstDash val="solid"/>
          </a:ln>
        </p:spPr>
        <p:txBody>
          <a:bodyPr/>
          <a:p/>
        </p:txBody>
      </p:sp>
      <p:sp>
        <p:nvSpPr>
          <p:cNvPr id="9" name="Text 7"/>
          <p:cNvSpPr/>
          <p:nvPr/>
        </p:nvSpPr>
        <p:spPr>
          <a:xfrm>
            <a:off x="941832" y="5244084"/>
            <a:ext cx="1014984"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AI ANALYTICS</a:t>
            </a:r>
            <a:endParaRPr lang="en-US" sz="800" dirty="0"/>
          </a:p>
        </p:txBody>
      </p:sp>
      <p:sp>
        <p:nvSpPr>
          <p:cNvPr id="10" name="Shape 8"/>
          <p:cNvSpPr/>
          <p:nvPr/>
        </p:nvSpPr>
        <p:spPr>
          <a:xfrm>
            <a:off x="2148840" y="5175504"/>
            <a:ext cx="1572768" cy="274320"/>
          </a:xfrm>
          <a:prstGeom prst="roundRect">
            <a:avLst>
              <a:gd name="adj" fmla="val 43333"/>
            </a:avLst>
          </a:prstGeom>
          <a:solidFill>
            <a:srgbClr val="F2F2F5"/>
          </a:solidFill>
          <a:ln w="11430">
            <a:solidFill>
              <a:srgbClr val="1600FF"/>
            </a:solidFill>
            <a:prstDash val="solid"/>
          </a:ln>
        </p:spPr>
        <p:txBody>
          <a:bodyPr/>
          <a:p/>
        </p:txBody>
      </p:sp>
      <p:sp>
        <p:nvSpPr>
          <p:cNvPr id="11" name="Text 9"/>
          <p:cNvSpPr/>
          <p:nvPr/>
        </p:nvSpPr>
        <p:spPr>
          <a:xfrm>
            <a:off x="2212848" y="5244084"/>
            <a:ext cx="1444752"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DATA INTERPRETATION</a:t>
            </a:r>
            <a:endParaRPr lang="en-US" sz="800" dirty="0"/>
          </a:p>
        </p:txBody>
      </p:sp>
      <p:sp>
        <p:nvSpPr>
          <p:cNvPr id="12" name="Shape 10"/>
          <p:cNvSpPr/>
          <p:nvPr/>
        </p:nvSpPr>
        <p:spPr>
          <a:xfrm>
            <a:off x="3840480" y="5175504"/>
            <a:ext cx="1051560" cy="274320"/>
          </a:xfrm>
          <a:prstGeom prst="roundRect">
            <a:avLst>
              <a:gd name="adj" fmla="val 43333"/>
            </a:avLst>
          </a:prstGeom>
          <a:solidFill>
            <a:srgbClr val="F2F2F5"/>
          </a:solidFill>
          <a:ln w="11430">
            <a:solidFill>
              <a:srgbClr val="1600FF"/>
            </a:solidFill>
            <a:prstDash val="solid"/>
          </a:ln>
        </p:spPr>
        <p:txBody>
          <a:bodyPr/>
          <a:p/>
        </p:txBody>
      </p:sp>
      <p:sp>
        <p:nvSpPr>
          <p:cNvPr id="13" name="Text 11"/>
          <p:cNvSpPr/>
          <p:nvPr/>
        </p:nvSpPr>
        <p:spPr>
          <a:xfrm>
            <a:off x="3904488" y="5244084"/>
            <a:ext cx="923544"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DATA QUALITY</a:t>
            </a:r>
            <a:endParaRPr lang="en-US" sz="800" dirty="0"/>
          </a:p>
        </p:txBody>
      </p:sp>
      <p:sp>
        <p:nvSpPr>
          <p:cNvPr id="14" name="Shape 12"/>
          <p:cNvSpPr/>
          <p:nvPr/>
        </p:nvSpPr>
        <p:spPr>
          <a:xfrm>
            <a:off x="5650992" y="1828800"/>
            <a:ext cx="5669280" cy="3986784"/>
          </a:xfrm>
          <a:prstGeom prst="roundRect">
            <a:avLst>
              <a:gd name="adj" fmla="val 1835"/>
            </a:avLst>
          </a:prstGeom>
          <a:solidFill>
            <a:srgbClr val="F9F9FC"/>
          </a:solidFill>
          <a:ln w="10160">
            <a:solidFill>
              <a:srgbClr val="DADAE0"/>
            </a:solidFill>
            <a:prstDash val="solid"/>
          </a:ln>
        </p:spPr>
        <p:txBody>
          <a:bodyPr/>
          <a:p/>
        </p:txBody>
      </p:sp>
      <p:sp>
        <p:nvSpPr>
          <p:cNvPr id="15" name="Text 13"/>
          <p:cNvSpPr/>
          <p:nvPr/>
        </p:nvSpPr>
        <p:spPr>
          <a:xfrm>
            <a:off x="5989320" y="2084832"/>
            <a:ext cx="2194560" cy="292608"/>
          </a:xfrm>
          <a:prstGeom prst="rect">
            <a:avLst/>
          </a:prstGeom>
          <a:noFill/>
          <a:ln/>
        </p:spPr>
        <p:txBody>
          <a:bodyPr wrap="square" lIns="0" tIns="0" rIns="0" bIns="0" rtlCol="0" anchor="ctr"/>
          <a:lstStyle/>
          <a:p>
            <a:pPr indent="0" marL="0">
              <a:buNone/>
            </a:pPr>
            <a:r>
              <a:rPr lang="en-US" sz="2300" b="1" dirty="0">
                <a:solidFill>
                  <a:srgbClr val="17171A"/>
                </a:solidFill>
                <a:latin typeface="Inter" pitchFamily="34" charset="0"/>
                <a:ea typeface="Arial Narrow" pitchFamily="34" charset="-122"/>
                <a:cs typeface="Arial Narrow" pitchFamily="34" charset="-120"/>
              </a:rPr>
              <a:t>Signal discovery</a:t>
            </a:r>
            <a:endParaRPr lang="en-US" sz="2300" dirty="0"/>
          </a:p>
        </p:txBody>
      </p:sp>
      <p:sp>
        <p:nvSpPr>
          <p:cNvPr id="16" name="Shape 14"/>
          <p:cNvSpPr/>
          <p:nvPr/>
        </p:nvSpPr>
        <p:spPr>
          <a:xfrm>
            <a:off x="5989320" y="2816352"/>
            <a:ext cx="1389888" cy="1207008"/>
          </a:xfrm>
          <a:prstGeom prst="roundRect">
            <a:avLst>
              <a:gd name="adj" fmla="val 4545"/>
            </a:avLst>
          </a:prstGeom>
          <a:solidFill>
            <a:srgbClr val="FFFFFF"/>
          </a:solidFill>
          <a:ln w="12700">
            <a:solidFill>
              <a:srgbClr val="DADAE0"/>
            </a:solidFill>
            <a:prstDash val="solid"/>
          </a:ln>
        </p:spPr>
        <p:txBody>
          <a:bodyPr/>
          <a:p/>
        </p:txBody>
      </p:sp>
      <p:sp>
        <p:nvSpPr>
          <p:cNvPr id="17" name="Text 15"/>
          <p:cNvSpPr/>
          <p:nvPr/>
        </p:nvSpPr>
        <p:spPr>
          <a:xfrm>
            <a:off x="6099048" y="3063240"/>
            <a:ext cx="1170432" cy="365760"/>
          </a:xfrm>
          <a:prstGeom prst="rect">
            <a:avLst/>
          </a:prstGeom>
          <a:noFill/>
          <a:ln/>
        </p:spPr>
        <p:txBody>
          <a:bodyPr wrap="square" lIns="0" tIns="0" rIns="0" bIns="0" rtlCol="0" anchor="ctr">
            <a:normAutofit/>
          </a:bodyPr>
          <a:lstStyle/>
          <a:p>
            <a:pPr algn="ctr" indent="0" marL="0">
              <a:buNone/>
            </a:pPr>
            <a:r>
              <a:rPr lang="en-US" sz="1180" b="1" dirty="0">
                <a:solidFill>
                  <a:srgbClr val="17171A"/>
                </a:solidFill>
                <a:latin typeface="Inter"/>
              </a:rPr>
              <a:t>Data quality</a:t>
            </a:r>
            <a:endParaRPr lang="en-US" sz="1180" dirty="0"/>
          </a:p>
        </p:txBody>
      </p:sp>
      <p:sp>
        <p:nvSpPr>
          <p:cNvPr id="18" name="Text 16"/>
          <p:cNvSpPr/>
          <p:nvPr/>
        </p:nvSpPr>
        <p:spPr>
          <a:xfrm>
            <a:off x="6099048" y="3575304"/>
            <a:ext cx="1170432" cy="246888"/>
          </a:xfrm>
          <a:prstGeom prst="rect">
            <a:avLst/>
          </a:prstGeom>
          <a:noFill/>
          <a:ln/>
        </p:spPr>
        <p:txBody>
          <a:bodyPr wrap="square" lIns="0" tIns="0" rIns="0" bIns="0" rtlCol="0" anchor="ctr">
            <a:normAutofit/>
          </a:bodyPr>
          <a:lstStyle/>
          <a:p>
            <a:pPr algn="ctr" indent="0" marL="0">
              <a:buNone/>
            </a:pPr>
            <a:r>
              <a:rPr lang="en-US" sz="950" dirty="0">
                <a:solidFill>
                  <a:srgbClr val="64646B"/>
                </a:solidFill>
                <a:latin typeface="Inter"/>
              </a:rPr>
              <a:t>Check reliability</a:t>
            </a:r>
            <a:endParaRPr lang="en-US" sz="950" dirty="0"/>
          </a:p>
        </p:txBody>
      </p:sp>
      <p:sp>
        <p:nvSpPr>
          <p:cNvPr id="19" name="Text 17"/>
          <p:cNvSpPr/>
          <p:nvPr/>
        </p:nvSpPr>
        <p:spPr>
          <a:xfrm>
            <a:off x="7434072" y="3218688"/>
            <a:ext cx="228600" cy="228600"/>
          </a:xfrm>
          <a:prstGeom prst="rect">
            <a:avLst/>
          </a:prstGeom>
          <a:noFill/>
          <a:ln/>
        </p:spPr>
        <p:txBody>
          <a:bodyPr wrap="square" lIns="0" tIns="0" rIns="0" bIns="0" rtlCol="0" anchor="ctr"/>
          <a:lstStyle/>
          <a:p>
            <a:pPr algn="ctr" indent="0" marL="0">
              <a:buNone/>
            </a:pPr>
            <a:r>
              <a:rPr lang="en-US" sz="1800" b="1" dirty="0">
                <a:solidFill>
                  <a:srgbClr val="1600FF"/>
                </a:solidFill>
                <a:latin typeface="Inter"/>
              </a:rPr>
              <a:t>→</a:t>
            </a:r>
            <a:endParaRPr lang="en-US" sz="1800" dirty="0"/>
          </a:p>
        </p:txBody>
      </p:sp>
      <p:sp>
        <p:nvSpPr>
          <p:cNvPr id="20" name="Shape 18"/>
          <p:cNvSpPr/>
          <p:nvPr/>
        </p:nvSpPr>
        <p:spPr>
          <a:xfrm>
            <a:off x="7626096" y="2816352"/>
            <a:ext cx="1389888" cy="1207008"/>
          </a:xfrm>
          <a:prstGeom prst="roundRect">
            <a:avLst>
              <a:gd name="adj" fmla="val 4545"/>
            </a:avLst>
          </a:prstGeom>
          <a:solidFill>
            <a:srgbClr val="EAE9FF"/>
          </a:solidFill>
          <a:ln w="12700">
            <a:solidFill>
              <a:srgbClr val="1600FF"/>
            </a:solidFill>
            <a:prstDash val="solid"/>
          </a:ln>
        </p:spPr>
        <p:txBody>
          <a:bodyPr/>
          <a:p/>
        </p:txBody>
      </p:sp>
      <p:sp>
        <p:nvSpPr>
          <p:cNvPr id="21" name="Text 19"/>
          <p:cNvSpPr/>
          <p:nvPr/>
        </p:nvSpPr>
        <p:spPr>
          <a:xfrm>
            <a:off x="7735824" y="3063240"/>
            <a:ext cx="1170432" cy="365760"/>
          </a:xfrm>
          <a:prstGeom prst="rect">
            <a:avLst/>
          </a:prstGeom>
          <a:noFill/>
          <a:ln/>
        </p:spPr>
        <p:txBody>
          <a:bodyPr wrap="square" lIns="0" tIns="0" rIns="0" bIns="0" rtlCol="0" anchor="ctr">
            <a:normAutofit/>
          </a:bodyPr>
          <a:lstStyle/>
          <a:p>
            <a:pPr algn="ctr" indent="0" marL="0">
              <a:buNone/>
            </a:pPr>
            <a:r>
              <a:rPr lang="en-US" sz="1180" b="1" dirty="0">
                <a:solidFill>
                  <a:srgbClr val="17171A"/>
                </a:solidFill>
                <a:latin typeface="Inter"/>
              </a:rPr>
              <a:t>Risk indicators</a:t>
            </a:r>
            <a:endParaRPr lang="en-US" sz="1180" dirty="0"/>
          </a:p>
        </p:txBody>
      </p:sp>
      <p:sp>
        <p:nvSpPr>
          <p:cNvPr id="22" name="Text 20"/>
          <p:cNvSpPr/>
          <p:nvPr/>
        </p:nvSpPr>
        <p:spPr>
          <a:xfrm>
            <a:off x="7735824" y="3575304"/>
            <a:ext cx="1170432" cy="246888"/>
          </a:xfrm>
          <a:prstGeom prst="rect">
            <a:avLst/>
          </a:prstGeom>
          <a:noFill/>
          <a:ln/>
        </p:spPr>
        <p:txBody>
          <a:bodyPr wrap="square" lIns="0" tIns="0" rIns="0" bIns="0" rtlCol="0" anchor="ctr">
            <a:normAutofit/>
          </a:bodyPr>
          <a:lstStyle/>
          <a:p>
            <a:pPr algn="ctr" indent="0" marL="0">
              <a:buNone/>
            </a:pPr>
            <a:r>
              <a:rPr lang="en-US" sz="950" dirty="0">
                <a:solidFill>
                  <a:srgbClr val="64646B"/>
                </a:solidFill>
                <a:latin typeface="Inter"/>
              </a:rPr>
              <a:t>Identify useful signals</a:t>
            </a:r>
            <a:endParaRPr lang="en-US" sz="950" dirty="0"/>
          </a:p>
        </p:txBody>
      </p:sp>
      <p:sp>
        <p:nvSpPr>
          <p:cNvPr id="23" name="Text 21"/>
          <p:cNvSpPr/>
          <p:nvPr/>
        </p:nvSpPr>
        <p:spPr>
          <a:xfrm>
            <a:off x="9070848" y="3218688"/>
            <a:ext cx="228600" cy="228600"/>
          </a:xfrm>
          <a:prstGeom prst="rect">
            <a:avLst/>
          </a:prstGeom>
          <a:noFill/>
          <a:ln/>
        </p:spPr>
        <p:txBody>
          <a:bodyPr wrap="square" lIns="0" tIns="0" rIns="0" bIns="0" rtlCol="0" anchor="ctr"/>
          <a:lstStyle/>
          <a:p>
            <a:pPr algn="ctr" indent="0" marL="0">
              <a:buNone/>
            </a:pPr>
            <a:r>
              <a:rPr lang="en-US" sz="1800" b="1" dirty="0">
                <a:solidFill>
                  <a:srgbClr val="1600FF"/>
                </a:solidFill>
                <a:latin typeface="Inter"/>
              </a:rPr>
              <a:t>→</a:t>
            </a:r>
            <a:endParaRPr lang="en-US" sz="1800" dirty="0"/>
          </a:p>
        </p:txBody>
      </p:sp>
      <p:sp>
        <p:nvSpPr>
          <p:cNvPr id="24" name="Shape 22"/>
          <p:cNvSpPr/>
          <p:nvPr/>
        </p:nvSpPr>
        <p:spPr>
          <a:xfrm>
            <a:off x="9262872" y="2816352"/>
            <a:ext cx="1389888" cy="1207008"/>
          </a:xfrm>
          <a:prstGeom prst="roundRect">
            <a:avLst>
              <a:gd name="adj" fmla="val 4545"/>
            </a:avLst>
          </a:prstGeom>
          <a:solidFill>
            <a:srgbClr val="FFFFFF"/>
          </a:solidFill>
          <a:ln w="12700">
            <a:solidFill>
              <a:srgbClr val="DADAE0"/>
            </a:solidFill>
            <a:prstDash val="solid"/>
          </a:ln>
        </p:spPr>
        <p:txBody>
          <a:bodyPr/>
          <a:p/>
        </p:txBody>
      </p:sp>
      <p:sp>
        <p:nvSpPr>
          <p:cNvPr id="25" name="Text 23"/>
          <p:cNvSpPr/>
          <p:nvPr/>
        </p:nvSpPr>
        <p:spPr>
          <a:xfrm>
            <a:off x="9372600" y="3063240"/>
            <a:ext cx="1170432" cy="365760"/>
          </a:xfrm>
          <a:prstGeom prst="rect">
            <a:avLst/>
          </a:prstGeom>
          <a:noFill/>
          <a:ln/>
        </p:spPr>
        <p:txBody>
          <a:bodyPr wrap="square" lIns="0" tIns="0" rIns="0" bIns="0" rtlCol="0" anchor="ctr">
            <a:normAutofit/>
          </a:bodyPr>
          <a:lstStyle/>
          <a:p>
            <a:pPr algn="ctr" indent="0" marL="0">
              <a:buNone/>
            </a:pPr>
            <a:r>
              <a:rPr lang="en-US" sz="1180" b="1" dirty="0">
                <a:solidFill>
                  <a:srgbClr val="17171A"/>
                </a:solidFill>
                <a:latin typeface="Inter"/>
              </a:rPr>
              <a:t>Structured insights</a:t>
            </a:r>
            <a:endParaRPr lang="en-US" sz="1180" dirty="0"/>
          </a:p>
        </p:txBody>
      </p:sp>
      <p:sp>
        <p:nvSpPr>
          <p:cNvPr id="26" name="Text 24"/>
          <p:cNvSpPr/>
          <p:nvPr/>
        </p:nvSpPr>
        <p:spPr>
          <a:xfrm>
            <a:off x="9372600" y="3575304"/>
            <a:ext cx="1170432" cy="246888"/>
          </a:xfrm>
          <a:prstGeom prst="rect">
            <a:avLst/>
          </a:prstGeom>
          <a:noFill/>
          <a:ln/>
        </p:spPr>
        <p:txBody>
          <a:bodyPr wrap="square" lIns="0" tIns="0" rIns="0" bIns="0" rtlCol="0" anchor="ctr">
            <a:normAutofit/>
          </a:bodyPr>
          <a:lstStyle/>
          <a:p>
            <a:pPr algn="ctr" indent="0" marL="0">
              <a:buNone/>
            </a:pPr>
            <a:r>
              <a:rPr lang="en-US" sz="950" dirty="0">
                <a:solidFill>
                  <a:srgbClr val="64646B"/>
                </a:solidFill>
                <a:latin typeface="Inter"/>
              </a:rPr>
              <a:t>Prepare for prediction</a:t>
            </a:r>
            <a:endParaRPr lang="en-US" sz="950" dirty="0"/>
          </a:p>
        </p:txBody>
      </p:sp>
      <p:sp>
        <p:nvSpPr>
          <p:cNvPr id="27" name="Text 25"/>
          <p:cNvSpPr/>
          <p:nvPr/>
        </p:nvSpPr>
        <p:spPr>
          <a:xfrm>
            <a:off x="5989320" y="4526280"/>
            <a:ext cx="4800600" cy="859536"/>
          </a:xfrm>
          <a:prstGeom prst="rect">
            <a:avLst/>
          </a:prstGeom>
          <a:noFill/>
          <a:ln/>
        </p:spPr>
        <p:txBody>
          <a:bodyPr wrap="square" lIns="0" tIns="0" rIns="0" bIns="0" rtlCol="0" anchor="t">
            <a:normAutofit/>
          </a:bodyPr>
          <a:lstStyle/>
          <a:p>
            <a:pPr algn="l" indent="0" marL="0">
              <a:buNone/>
            </a:pPr>
            <a:r>
              <a:rPr lang="en-US" sz="1340" dirty="0">
                <a:solidFill>
                  <a:srgbClr val="64646B"/>
                </a:solidFill>
                <a:latin typeface="Inter" pitchFamily="34" charset="0"/>
                <a:ea typeface="Arial" pitchFamily="34" charset="-122"/>
                <a:cs typeface="Arial" pitchFamily="34" charset="-120"/>
              </a:rPr>
              <a:t>The objective was not only to find patterns, but to organize findings in a way that could support later modeling and business decisions.</a:t>
            </a:r>
            <a:endParaRPr lang="en-US" sz="134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777240" cy="502920"/>
          </a:xfrm>
          <a:prstGeom prst="rect">
            <a:avLst/>
          </a:prstGeom>
          <a:noFill/>
          <a:ln/>
        </p:spPr>
        <p:txBody>
          <a:bodyPr wrap="square" lIns="0" tIns="0" rIns="0" bIns="0" rtlCol="0" anchor="ctr"/>
          <a:lstStyle/>
          <a:p>
            <a:pPr indent="0" marL="0">
              <a:buNone/>
            </a:pPr>
            <a:r>
              <a:rPr lang="en-US" sz="2600" b="1" spc="50" kern="0" dirty="0">
                <a:solidFill>
                  <a:srgbClr val="1600FF"/>
                </a:solidFill>
                <a:latin typeface="Inter" pitchFamily="34" charset="0"/>
                <a:ea typeface="Arial Narrow" pitchFamily="34" charset="-122"/>
                <a:cs typeface="Arial Narrow" pitchFamily="34" charset="-120"/>
              </a:rPr>
              <a:t>05</a:t>
            </a:r>
            <a:endParaRPr lang="en-US" sz="2600" dirty="0"/>
          </a:p>
        </p:txBody>
      </p:sp>
      <p:sp>
        <p:nvSpPr>
          <p:cNvPr id="3" name="Text 1"/>
          <p:cNvSpPr/>
          <p:nvPr/>
        </p:nvSpPr>
        <p:spPr>
          <a:xfrm>
            <a:off x="1234440" y="713232"/>
            <a:ext cx="10241280" cy="658368"/>
          </a:xfrm>
          <a:prstGeom prst="rect">
            <a:avLst/>
          </a:prstGeom>
          <a:noFill/>
          <a:ln/>
        </p:spPr>
        <p:txBody>
          <a:bodyPr wrap="square" lIns="0" tIns="0" rIns="0" bIns="0" rtlCol="0" anchor="ctr">
            <a:normAutofit/>
          </a:bodyPr>
          <a:lstStyle/>
          <a:p>
            <a:pPr indent="0" marL="0">
              <a:buNone/>
            </a:pPr>
            <a:r>
              <a:rPr lang="en-US" sz="3100" b="1" dirty="0">
                <a:solidFill>
                  <a:srgbClr val="17171A"/>
                </a:solidFill>
                <a:latin typeface="Inter" pitchFamily="34" charset="0"/>
                <a:ea typeface="Arial Narrow" pitchFamily="34" charset="-122"/>
                <a:cs typeface="Arial Narrow" pitchFamily="34" charset="-120"/>
              </a:rPr>
              <a:t>Predictive Modeling Framework</a:t>
            </a:r>
            <a:endParaRPr lang="en-US" sz="3100" dirty="0"/>
          </a:p>
        </p:txBody>
      </p:sp>
      <p:sp>
        <p:nvSpPr>
          <p:cNvPr id="4" name="Text 2"/>
          <p:cNvSpPr/>
          <p:nvPr/>
        </p:nvSpPr>
        <p:spPr>
          <a:xfrm>
            <a:off x="1243584" y="1353312"/>
            <a:ext cx="8046720" cy="219456"/>
          </a:xfrm>
          <a:prstGeom prst="rect">
            <a:avLst/>
          </a:prstGeom>
          <a:noFill/>
          <a:ln/>
        </p:spPr>
        <p:txBody>
          <a:bodyPr wrap="square" lIns="0" tIns="0" rIns="0" bIns="0" rtlCol="0" anchor="ctr"/>
          <a:lstStyle/>
          <a:p>
            <a:pPr indent="0" marL="0">
              <a:buNone/>
            </a:pPr>
            <a:r>
              <a:rPr lang="en-US" sz="850" b="1" spc="140" kern="0" dirty="0">
                <a:solidFill>
                  <a:srgbClr val="1600FF"/>
                </a:solidFill>
                <a:latin typeface="Inter"/>
              </a:rPr>
              <a:t>TURNING SIGNALS INTO STRUCTURED PREDICTION</a:t>
            </a:r>
            <a:endParaRPr lang="en-US" sz="850" dirty="0"/>
          </a:p>
        </p:txBody>
      </p:sp>
      <p:sp>
        <p:nvSpPr>
          <p:cNvPr id="5" name="Shape 3"/>
          <p:cNvSpPr/>
          <p:nvPr/>
        </p:nvSpPr>
        <p:spPr>
          <a:xfrm>
            <a:off x="603504" y="1874520"/>
            <a:ext cx="10972800" cy="3621024"/>
          </a:xfrm>
          <a:prstGeom prst="roundRect">
            <a:avLst>
              <a:gd name="adj" fmla="val 2020"/>
            </a:avLst>
          </a:prstGeom>
          <a:solidFill>
            <a:srgbClr val="FFFFFF"/>
          </a:solidFill>
          <a:ln w="10160">
            <a:solidFill>
              <a:srgbClr val="DADAE0"/>
            </a:solidFill>
            <a:prstDash val="solid"/>
          </a:ln>
          <a:effectLst>
            <a:outerShdw sx="100000" sy="100000" kx="0" ky="0" algn="bl" rotWithShape="0" blurRad="25400" dist="12700" dir="2700000">
              <a:srgbClr val="000000">
                <a:alpha val="12000"/>
              </a:srgbClr>
            </a:outerShdw>
          </a:effectLst>
        </p:spPr>
        <p:txBody>
          <a:bodyPr/>
          <a:p/>
        </p:txBody>
      </p:sp>
      <p:sp>
        <p:nvSpPr>
          <p:cNvPr id="6" name="Shape 4"/>
          <p:cNvSpPr/>
          <p:nvPr/>
        </p:nvSpPr>
        <p:spPr>
          <a:xfrm>
            <a:off x="877824" y="2743200"/>
            <a:ext cx="1874520" cy="1188720"/>
          </a:xfrm>
          <a:prstGeom prst="roundRect">
            <a:avLst>
              <a:gd name="adj" fmla="val 4615"/>
            </a:avLst>
          </a:prstGeom>
          <a:solidFill>
            <a:srgbClr val="FFFFFF"/>
          </a:solidFill>
          <a:ln w="10160">
            <a:solidFill>
              <a:srgbClr val="DADAE0"/>
            </a:solidFill>
            <a:prstDash val="solid"/>
          </a:ln>
        </p:spPr>
        <p:txBody>
          <a:bodyPr/>
          <a:p/>
        </p:txBody>
      </p:sp>
      <p:sp>
        <p:nvSpPr>
          <p:cNvPr id="7" name="Text 5"/>
          <p:cNvSpPr/>
          <p:nvPr/>
        </p:nvSpPr>
        <p:spPr>
          <a:xfrm>
            <a:off x="978408" y="2953512"/>
            <a:ext cx="1673352" cy="256032"/>
          </a:xfrm>
          <a:prstGeom prst="rect">
            <a:avLst/>
          </a:prstGeom>
          <a:noFill/>
          <a:ln/>
        </p:spPr>
        <p:txBody>
          <a:bodyPr wrap="square" lIns="0" tIns="0" rIns="0" bIns="0" rtlCol="0" anchor="ctr">
            <a:normAutofit/>
          </a:bodyPr>
          <a:lstStyle/>
          <a:p>
            <a:pPr algn="ctr" indent="0" marL="0">
              <a:buNone/>
            </a:pPr>
            <a:r>
              <a:rPr lang="en-US" sz="1190" b="1" dirty="0">
                <a:solidFill>
                  <a:srgbClr val="17171A"/>
                </a:solidFill>
                <a:latin typeface="Inter"/>
              </a:rPr>
              <a:t>Input signals</a:t>
            </a:r>
            <a:endParaRPr lang="en-US" sz="1190" dirty="0"/>
          </a:p>
        </p:txBody>
      </p:sp>
      <p:sp>
        <p:nvSpPr>
          <p:cNvPr id="8" name="Text 6"/>
          <p:cNvSpPr/>
          <p:nvPr/>
        </p:nvSpPr>
        <p:spPr>
          <a:xfrm>
            <a:off x="978408" y="3337560"/>
            <a:ext cx="1673352" cy="310896"/>
          </a:xfrm>
          <a:prstGeom prst="rect">
            <a:avLst/>
          </a:prstGeom>
          <a:noFill/>
          <a:ln/>
        </p:spPr>
        <p:txBody>
          <a:bodyPr wrap="square" lIns="0" tIns="0" rIns="0" bIns="0" rtlCol="0" anchor="ctr">
            <a:normAutofit/>
          </a:bodyPr>
          <a:lstStyle/>
          <a:p>
            <a:pPr algn="ctr" indent="0" marL="0">
              <a:buNone/>
            </a:pPr>
            <a:r>
              <a:rPr lang="en-US" sz="950" dirty="0">
                <a:solidFill>
                  <a:srgbClr val="64646B"/>
                </a:solidFill>
                <a:latin typeface="Inter"/>
              </a:rPr>
              <a:t>Risk indicators and structured data</a:t>
            </a:r>
            <a:endParaRPr lang="en-US" sz="950" dirty="0"/>
          </a:p>
        </p:txBody>
      </p:sp>
      <p:sp>
        <p:nvSpPr>
          <p:cNvPr id="9" name="Text 7"/>
          <p:cNvSpPr/>
          <p:nvPr/>
        </p:nvSpPr>
        <p:spPr>
          <a:xfrm>
            <a:off x="2862072" y="3154680"/>
            <a:ext cx="246888" cy="228600"/>
          </a:xfrm>
          <a:prstGeom prst="rect">
            <a:avLst/>
          </a:prstGeom>
          <a:noFill/>
          <a:ln/>
        </p:spPr>
        <p:txBody>
          <a:bodyPr wrap="square" lIns="0" tIns="0" rIns="0" bIns="0" rtlCol="0" anchor="ctr"/>
          <a:lstStyle/>
          <a:p>
            <a:pPr algn="ctr" indent="0" marL="0">
              <a:buNone/>
            </a:pPr>
            <a:r>
              <a:rPr lang="en-US" sz="1800" b="1" dirty="0">
                <a:solidFill>
                  <a:srgbClr val="1600FF"/>
                </a:solidFill>
                <a:latin typeface="Inter"/>
              </a:rPr>
              <a:t>→</a:t>
            </a:r>
            <a:endParaRPr lang="en-US" sz="1800" dirty="0"/>
          </a:p>
        </p:txBody>
      </p:sp>
      <p:sp>
        <p:nvSpPr>
          <p:cNvPr id="10" name="Shape 8"/>
          <p:cNvSpPr/>
          <p:nvPr/>
        </p:nvSpPr>
        <p:spPr>
          <a:xfrm>
            <a:off x="3154680" y="2743200"/>
            <a:ext cx="2084832" cy="1188720"/>
          </a:xfrm>
          <a:prstGeom prst="roundRect">
            <a:avLst>
              <a:gd name="adj" fmla="val 4615"/>
            </a:avLst>
          </a:prstGeom>
          <a:solidFill>
            <a:srgbClr val="FFFFFF"/>
          </a:solidFill>
          <a:ln w="10160">
            <a:solidFill>
              <a:srgbClr val="DADAE0"/>
            </a:solidFill>
            <a:prstDash val="solid"/>
          </a:ln>
        </p:spPr>
        <p:txBody>
          <a:bodyPr/>
          <a:p/>
        </p:txBody>
      </p:sp>
      <p:sp>
        <p:nvSpPr>
          <p:cNvPr id="11" name="Text 9"/>
          <p:cNvSpPr/>
          <p:nvPr/>
        </p:nvSpPr>
        <p:spPr>
          <a:xfrm>
            <a:off x="3255264" y="2953512"/>
            <a:ext cx="1883664" cy="256032"/>
          </a:xfrm>
          <a:prstGeom prst="rect">
            <a:avLst/>
          </a:prstGeom>
          <a:noFill/>
          <a:ln/>
        </p:spPr>
        <p:txBody>
          <a:bodyPr wrap="square" lIns="0" tIns="0" rIns="0" bIns="0" rtlCol="0" anchor="ctr">
            <a:normAutofit/>
          </a:bodyPr>
          <a:lstStyle/>
          <a:p>
            <a:pPr algn="ctr" indent="0" marL="0">
              <a:buNone/>
            </a:pPr>
            <a:r>
              <a:rPr lang="en-US" sz="1190" b="1" dirty="0">
                <a:solidFill>
                  <a:srgbClr val="17171A"/>
                </a:solidFill>
                <a:latin typeface="Inter"/>
              </a:rPr>
              <a:t>Model selection</a:t>
            </a:r>
            <a:endParaRPr lang="en-US" sz="1190" dirty="0"/>
          </a:p>
        </p:txBody>
      </p:sp>
      <p:sp>
        <p:nvSpPr>
          <p:cNvPr id="12" name="Text 10"/>
          <p:cNvSpPr/>
          <p:nvPr/>
        </p:nvSpPr>
        <p:spPr>
          <a:xfrm>
            <a:off x="3255264" y="3337560"/>
            <a:ext cx="1883664" cy="310896"/>
          </a:xfrm>
          <a:prstGeom prst="rect">
            <a:avLst/>
          </a:prstGeom>
          <a:noFill/>
          <a:ln/>
        </p:spPr>
        <p:txBody>
          <a:bodyPr wrap="square" lIns="0" tIns="0" rIns="0" bIns="0" rtlCol="0" anchor="ctr">
            <a:normAutofit/>
          </a:bodyPr>
          <a:lstStyle/>
          <a:p>
            <a:pPr algn="ctr" indent="0" marL="0">
              <a:buNone/>
            </a:pPr>
            <a:r>
              <a:rPr lang="en-US" sz="950" dirty="0">
                <a:solidFill>
                  <a:srgbClr val="64646B"/>
                </a:solidFill>
                <a:latin typeface="Inter"/>
              </a:rPr>
              <a:t>Choose a suitable no-code approach</a:t>
            </a:r>
            <a:endParaRPr lang="en-US" sz="950" dirty="0"/>
          </a:p>
        </p:txBody>
      </p:sp>
      <p:sp>
        <p:nvSpPr>
          <p:cNvPr id="13" name="Text 11"/>
          <p:cNvSpPr/>
          <p:nvPr/>
        </p:nvSpPr>
        <p:spPr>
          <a:xfrm>
            <a:off x="5349240" y="3154680"/>
            <a:ext cx="246888" cy="228600"/>
          </a:xfrm>
          <a:prstGeom prst="rect">
            <a:avLst/>
          </a:prstGeom>
          <a:noFill/>
          <a:ln/>
        </p:spPr>
        <p:txBody>
          <a:bodyPr wrap="square" lIns="0" tIns="0" rIns="0" bIns="0" rtlCol="0" anchor="ctr"/>
          <a:lstStyle/>
          <a:p>
            <a:pPr algn="ctr" indent="0" marL="0">
              <a:buNone/>
            </a:pPr>
            <a:r>
              <a:rPr lang="en-US" sz="1800" b="1" dirty="0">
                <a:solidFill>
                  <a:srgbClr val="1600FF"/>
                </a:solidFill>
                <a:latin typeface="Inter"/>
              </a:rPr>
              <a:t>→</a:t>
            </a:r>
            <a:endParaRPr lang="en-US" sz="1800" dirty="0"/>
          </a:p>
        </p:txBody>
      </p:sp>
      <p:sp>
        <p:nvSpPr>
          <p:cNvPr id="14" name="Shape 12"/>
          <p:cNvSpPr/>
          <p:nvPr/>
        </p:nvSpPr>
        <p:spPr>
          <a:xfrm>
            <a:off x="5650992" y="2743200"/>
            <a:ext cx="2084832" cy="1188720"/>
          </a:xfrm>
          <a:prstGeom prst="roundRect">
            <a:avLst>
              <a:gd name="adj" fmla="val 4615"/>
            </a:avLst>
          </a:prstGeom>
          <a:solidFill>
            <a:srgbClr val="FFFFFF"/>
          </a:solidFill>
          <a:ln w="10160">
            <a:solidFill>
              <a:srgbClr val="DADAE0"/>
            </a:solidFill>
            <a:prstDash val="solid"/>
          </a:ln>
        </p:spPr>
        <p:txBody>
          <a:bodyPr/>
          <a:p/>
        </p:txBody>
      </p:sp>
      <p:sp>
        <p:nvSpPr>
          <p:cNvPr id="15" name="Text 13"/>
          <p:cNvSpPr/>
          <p:nvPr/>
        </p:nvSpPr>
        <p:spPr>
          <a:xfrm>
            <a:off x="5751576" y="2953512"/>
            <a:ext cx="1883664" cy="256032"/>
          </a:xfrm>
          <a:prstGeom prst="rect">
            <a:avLst/>
          </a:prstGeom>
          <a:noFill/>
          <a:ln/>
        </p:spPr>
        <p:txBody>
          <a:bodyPr wrap="square" lIns="0" tIns="0" rIns="0" bIns="0" rtlCol="0" anchor="ctr">
            <a:normAutofit/>
          </a:bodyPr>
          <a:lstStyle/>
          <a:p>
            <a:pPr algn="ctr" indent="0" marL="0">
              <a:buNone/>
            </a:pPr>
            <a:r>
              <a:rPr lang="en-US" sz="1190" b="1" dirty="0">
                <a:solidFill>
                  <a:srgbClr val="17171A"/>
                </a:solidFill>
                <a:latin typeface="Inter"/>
              </a:rPr>
              <a:t>Evaluation criteria</a:t>
            </a:r>
            <a:endParaRPr lang="en-US" sz="1190" dirty="0"/>
          </a:p>
        </p:txBody>
      </p:sp>
      <p:sp>
        <p:nvSpPr>
          <p:cNvPr id="16" name="Text 14"/>
          <p:cNvSpPr/>
          <p:nvPr/>
        </p:nvSpPr>
        <p:spPr>
          <a:xfrm>
            <a:off x="5751576" y="3337560"/>
            <a:ext cx="1883664" cy="310896"/>
          </a:xfrm>
          <a:prstGeom prst="rect">
            <a:avLst/>
          </a:prstGeom>
          <a:noFill/>
          <a:ln/>
        </p:spPr>
        <p:txBody>
          <a:bodyPr wrap="square" lIns="0" tIns="0" rIns="0" bIns="0" rtlCol="0" anchor="ctr">
            <a:normAutofit/>
          </a:bodyPr>
          <a:lstStyle/>
          <a:p>
            <a:pPr algn="ctr" indent="0" marL="0">
              <a:buNone/>
            </a:pPr>
            <a:r>
              <a:rPr lang="en-US" sz="950" dirty="0">
                <a:solidFill>
                  <a:srgbClr val="64646B"/>
                </a:solidFill>
                <a:latin typeface="Inter"/>
              </a:rPr>
              <a:t>Define how the model should be judged</a:t>
            </a:r>
            <a:endParaRPr lang="en-US" sz="950" dirty="0"/>
          </a:p>
        </p:txBody>
      </p:sp>
      <p:sp>
        <p:nvSpPr>
          <p:cNvPr id="17" name="Text 15"/>
          <p:cNvSpPr/>
          <p:nvPr/>
        </p:nvSpPr>
        <p:spPr>
          <a:xfrm>
            <a:off x="7845552" y="3154680"/>
            <a:ext cx="246888" cy="228600"/>
          </a:xfrm>
          <a:prstGeom prst="rect">
            <a:avLst/>
          </a:prstGeom>
          <a:noFill/>
          <a:ln/>
        </p:spPr>
        <p:txBody>
          <a:bodyPr wrap="square" lIns="0" tIns="0" rIns="0" bIns="0" rtlCol="0" anchor="ctr"/>
          <a:lstStyle/>
          <a:p>
            <a:pPr algn="ctr" indent="0" marL="0">
              <a:buNone/>
            </a:pPr>
            <a:r>
              <a:rPr lang="en-US" sz="1800" b="1" dirty="0">
                <a:solidFill>
                  <a:srgbClr val="1600FF"/>
                </a:solidFill>
                <a:latin typeface="Inter"/>
              </a:rPr>
              <a:t>→</a:t>
            </a:r>
            <a:endParaRPr lang="en-US" sz="1800" dirty="0"/>
          </a:p>
        </p:txBody>
      </p:sp>
      <p:sp>
        <p:nvSpPr>
          <p:cNvPr id="18" name="Shape 16"/>
          <p:cNvSpPr/>
          <p:nvPr/>
        </p:nvSpPr>
        <p:spPr>
          <a:xfrm>
            <a:off x="8092440" y="2743200"/>
            <a:ext cx="1874520" cy="1188720"/>
          </a:xfrm>
          <a:prstGeom prst="roundRect">
            <a:avLst>
              <a:gd name="adj" fmla="val 4615"/>
            </a:avLst>
          </a:prstGeom>
          <a:solidFill>
            <a:srgbClr val="FFFFFF"/>
          </a:solidFill>
          <a:ln w="10160">
            <a:solidFill>
              <a:srgbClr val="DADAE0"/>
            </a:solidFill>
            <a:prstDash val="solid"/>
          </a:ln>
        </p:spPr>
        <p:txBody>
          <a:bodyPr/>
          <a:p/>
        </p:txBody>
      </p:sp>
      <p:sp>
        <p:nvSpPr>
          <p:cNvPr id="19" name="Text 17"/>
          <p:cNvSpPr/>
          <p:nvPr/>
        </p:nvSpPr>
        <p:spPr>
          <a:xfrm>
            <a:off x="8193024" y="2953512"/>
            <a:ext cx="1673352" cy="256032"/>
          </a:xfrm>
          <a:prstGeom prst="rect">
            <a:avLst/>
          </a:prstGeom>
          <a:noFill/>
          <a:ln/>
        </p:spPr>
        <p:txBody>
          <a:bodyPr wrap="square" lIns="0" tIns="0" rIns="0" bIns="0" rtlCol="0" anchor="ctr">
            <a:normAutofit/>
          </a:bodyPr>
          <a:lstStyle/>
          <a:p>
            <a:pPr algn="ctr" indent="0" marL="0">
              <a:buNone/>
            </a:pPr>
            <a:r>
              <a:rPr lang="en-US" sz="1190" b="1" dirty="0">
                <a:solidFill>
                  <a:srgbClr val="17171A"/>
                </a:solidFill>
                <a:latin typeface="Inter"/>
              </a:rPr>
              <a:t>Validation</a:t>
            </a:r>
            <a:endParaRPr lang="en-US" sz="1190" dirty="0"/>
          </a:p>
        </p:txBody>
      </p:sp>
      <p:sp>
        <p:nvSpPr>
          <p:cNvPr id="20" name="Text 18"/>
          <p:cNvSpPr/>
          <p:nvPr/>
        </p:nvSpPr>
        <p:spPr>
          <a:xfrm>
            <a:off x="8193024" y="3337560"/>
            <a:ext cx="1673352" cy="310896"/>
          </a:xfrm>
          <a:prstGeom prst="rect">
            <a:avLst/>
          </a:prstGeom>
          <a:noFill/>
          <a:ln/>
        </p:spPr>
        <p:txBody>
          <a:bodyPr wrap="square" lIns="0" tIns="0" rIns="0" bIns="0" rtlCol="0" anchor="ctr">
            <a:normAutofit/>
          </a:bodyPr>
          <a:lstStyle/>
          <a:p>
            <a:pPr algn="ctr" indent="0" marL="0">
              <a:buNone/>
            </a:pPr>
            <a:r>
              <a:rPr lang="en-US" sz="950" dirty="0">
                <a:solidFill>
                  <a:srgbClr val="64646B"/>
                </a:solidFill>
                <a:latin typeface="Inter"/>
              </a:rPr>
              <a:t>Check whether the approach is reliable</a:t>
            </a:r>
            <a:endParaRPr lang="en-US" sz="950" dirty="0"/>
          </a:p>
        </p:txBody>
      </p:sp>
      <p:sp>
        <p:nvSpPr>
          <p:cNvPr id="21" name="Text 19"/>
          <p:cNvSpPr/>
          <p:nvPr/>
        </p:nvSpPr>
        <p:spPr>
          <a:xfrm>
            <a:off x="10076688" y="3154680"/>
            <a:ext cx="246888" cy="228600"/>
          </a:xfrm>
          <a:prstGeom prst="rect">
            <a:avLst/>
          </a:prstGeom>
          <a:noFill/>
          <a:ln/>
        </p:spPr>
        <p:txBody>
          <a:bodyPr wrap="square" lIns="0" tIns="0" rIns="0" bIns="0" rtlCol="0" anchor="ctr"/>
          <a:lstStyle/>
          <a:p>
            <a:pPr algn="ctr" indent="0" marL="0">
              <a:buNone/>
            </a:pPr>
            <a:r>
              <a:rPr lang="en-US" sz="1800" b="1" dirty="0">
                <a:solidFill>
                  <a:srgbClr val="1600FF"/>
                </a:solidFill>
                <a:latin typeface="Inter"/>
              </a:rPr>
              <a:t>→</a:t>
            </a:r>
            <a:endParaRPr lang="en-US" sz="1800" dirty="0"/>
          </a:p>
        </p:txBody>
      </p:sp>
      <p:sp>
        <p:nvSpPr>
          <p:cNvPr id="22" name="Shape 20"/>
          <p:cNvSpPr/>
          <p:nvPr/>
        </p:nvSpPr>
        <p:spPr>
          <a:xfrm>
            <a:off x="10296144" y="2743200"/>
            <a:ext cx="987552" cy="1188720"/>
          </a:xfrm>
          <a:prstGeom prst="roundRect">
            <a:avLst>
              <a:gd name="adj" fmla="val 5556"/>
            </a:avLst>
          </a:prstGeom>
          <a:solidFill>
            <a:srgbClr val="EAE9FF"/>
          </a:solidFill>
          <a:ln w="12700">
            <a:solidFill>
              <a:srgbClr val="1600FF"/>
            </a:solidFill>
            <a:prstDash val="solid"/>
          </a:ln>
        </p:spPr>
        <p:txBody>
          <a:bodyPr/>
          <a:p/>
        </p:txBody>
      </p:sp>
      <p:sp>
        <p:nvSpPr>
          <p:cNvPr id="23" name="Text 21"/>
          <p:cNvSpPr/>
          <p:nvPr/>
        </p:nvSpPr>
        <p:spPr>
          <a:xfrm>
            <a:off x="10396728" y="2953512"/>
            <a:ext cx="786384" cy="256032"/>
          </a:xfrm>
          <a:prstGeom prst="rect">
            <a:avLst/>
          </a:prstGeom>
          <a:noFill/>
          <a:ln/>
        </p:spPr>
        <p:txBody>
          <a:bodyPr wrap="square" lIns="0" tIns="0" rIns="0" bIns="0" rtlCol="0" anchor="ctr">
            <a:normAutofit/>
          </a:bodyPr>
          <a:lstStyle/>
          <a:p>
            <a:pPr algn="ctr" indent="0" marL="0">
              <a:buNone/>
            </a:pPr>
            <a:r>
              <a:rPr lang="en-US" sz="1190" b="1" dirty="0">
                <a:solidFill>
                  <a:srgbClr val="17171A"/>
                </a:solidFill>
                <a:latin typeface="Inter"/>
              </a:rPr>
              <a:t>Output</a:t>
            </a:r>
            <a:endParaRPr lang="en-US" sz="1190" dirty="0"/>
          </a:p>
        </p:txBody>
      </p:sp>
      <p:sp>
        <p:nvSpPr>
          <p:cNvPr id="24" name="Text 22"/>
          <p:cNvSpPr/>
          <p:nvPr/>
        </p:nvSpPr>
        <p:spPr>
          <a:xfrm>
            <a:off x="10396728" y="3337560"/>
            <a:ext cx="786384" cy="310896"/>
          </a:xfrm>
          <a:prstGeom prst="rect">
            <a:avLst/>
          </a:prstGeom>
          <a:noFill/>
          <a:ln/>
        </p:spPr>
        <p:txBody>
          <a:bodyPr wrap="square" lIns="0" tIns="0" rIns="0" bIns="0" rtlCol="0" anchor="ctr">
            <a:normAutofit/>
          </a:bodyPr>
          <a:lstStyle/>
          <a:p>
            <a:pPr algn="ctr" indent="0" marL="0">
              <a:buNone/>
            </a:pPr>
            <a:r>
              <a:rPr lang="en-US" sz="950" dirty="0">
                <a:solidFill>
                  <a:srgbClr val="64646B"/>
                </a:solidFill>
                <a:latin typeface="Inter"/>
              </a:rPr>
              <a:t>Useful prediction</a:t>
            </a:r>
            <a:endParaRPr lang="en-US" sz="950" dirty="0"/>
          </a:p>
        </p:txBody>
      </p:sp>
      <p:sp>
        <p:nvSpPr>
          <p:cNvPr id="25" name="Shape 23"/>
          <p:cNvSpPr/>
          <p:nvPr/>
        </p:nvSpPr>
        <p:spPr>
          <a:xfrm>
            <a:off x="987552" y="4590288"/>
            <a:ext cx="1399032" cy="274320"/>
          </a:xfrm>
          <a:prstGeom prst="roundRect">
            <a:avLst>
              <a:gd name="adj" fmla="val 43333"/>
            </a:avLst>
          </a:prstGeom>
          <a:solidFill>
            <a:srgbClr val="F2F2F5"/>
          </a:solidFill>
          <a:ln w="11430">
            <a:solidFill>
              <a:srgbClr val="1600FF"/>
            </a:solidFill>
            <a:prstDash val="solid"/>
          </a:ln>
        </p:spPr>
        <p:txBody>
          <a:bodyPr/>
          <a:p/>
        </p:txBody>
      </p:sp>
      <p:sp>
        <p:nvSpPr>
          <p:cNvPr id="26" name="Text 24"/>
          <p:cNvSpPr/>
          <p:nvPr/>
        </p:nvSpPr>
        <p:spPr>
          <a:xfrm>
            <a:off x="1051560" y="4658868"/>
            <a:ext cx="1271016"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MODEL SELECTION</a:t>
            </a:r>
            <a:endParaRPr lang="en-US" sz="800" dirty="0"/>
          </a:p>
        </p:txBody>
      </p:sp>
      <p:sp>
        <p:nvSpPr>
          <p:cNvPr id="27" name="Shape 25"/>
          <p:cNvSpPr/>
          <p:nvPr/>
        </p:nvSpPr>
        <p:spPr>
          <a:xfrm>
            <a:off x="2551176" y="4590288"/>
            <a:ext cx="1408176" cy="274320"/>
          </a:xfrm>
          <a:prstGeom prst="roundRect">
            <a:avLst>
              <a:gd name="adj" fmla="val 43333"/>
            </a:avLst>
          </a:prstGeom>
          <a:solidFill>
            <a:srgbClr val="F2F2F5"/>
          </a:solidFill>
          <a:ln w="11430">
            <a:solidFill>
              <a:srgbClr val="1600FF"/>
            </a:solidFill>
            <a:prstDash val="solid"/>
          </a:ln>
        </p:spPr>
        <p:txBody>
          <a:bodyPr/>
          <a:p/>
        </p:txBody>
      </p:sp>
      <p:sp>
        <p:nvSpPr>
          <p:cNvPr id="28" name="Text 26"/>
          <p:cNvSpPr/>
          <p:nvPr/>
        </p:nvSpPr>
        <p:spPr>
          <a:xfrm>
            <a:off x="2615184" y="4658868"/>
            <a:ext cx="1280160"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MODEL VALIDATION</a:t>
            </a:r>
            <a:endParaRPr lang="en-US" sz="800" dirty="0"/>
          </a:p>
        </p:txBody>
      </p:sp>
      <p:sp>
        <p:nvSpPr>
          <p:cNvPr id="29" name="Shape 27"/>
          <p:cNvSpPr/>
          <p:nvPr/>
        </p:nvSpPr>
        <p:spPr>
          <a:xfrm>
            <a:off x="4114800" y="4590288"/>
            <a:ext cx="1581912" cy="274320"/>
          </a:xfrm>
          <a:prstGeom prst="roundRect">
            <a:avLst>
              <a:gd name="adj" fmla="val 43333"/>
            </a:avLst>
          </a:prstGeom>
          <a:solidFill>
            <a:srgbClr val="F2F2F5"/>
          </a:solidFill>
          <a:ln w="11430">
            <a:solidFill>
              <a:srgbClr val="1600FF"/>
            </a:solidFill>
            <a:prstDash val="solid"/>
          </a:ln>
        </p:spPr>
        <p:txBody>
          <a:bodyPr/>
          <a:p/>
        </p:txBody>
      </p:sp>
      <p:sp>
        <p:nvSpPr>
          <p:cNvPr id="30" name="Text 28"/>
          <p:cNvSpPr/>
          <p:nvPr/>
        </p:nvSpPr>
        <p:spPr>
          <a:xfrm>
            <a:off x="4178808" y="4658868"/>
            <a:ext cx="1453896"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PREDICTIVE ANALYTICS</a:t>
            </a:r>
            <a:endParaRPr lang="en-US" sz="800" dirty="0"/>
          </a:p>
        </p:txBody>
      </p:sp>
      <p:sp>
        <p:nvSpPr>
          <p:cNvPr id="31" name="Shape 29"/>
          <p:cNvSpPr/>
          <p:nvPr/>
        </p:nvSpPr>
        <p:spPr>
          <a:xfrm>
            <a:off x="5852160" y="4590288"/>
            <a:ext cx="1298448" cy="274320"/>
          </a:xfrm>
          <a:prstGeom prst="roundRect">
            <a:avLst>
              <a:gd name="adj" fmla="val 43333"/>
            </a:avLst>
          </a:prstGeom>
          <a:solidFill>
            <a:srgbClr val="F2F2F5"/>
          </a:solidFill>
          <a:ln w="11430">
            <a:solidFill>
              <a:srgbClr val="1600FF"/>
            </a:solidFill>
            <a:prstDash val="solid"/>
          </a:ln>
        </p:spPr>
        <p:txBody>
          <a:bodyPr/>
          <a:p/>
        </p:txBody>
      </p:sp>
      <p:sp>
        <p:nvSpPr>
          <p:cNvPr id="32" name="Text 30"/>
          <p:cNvSpPr/>
          <p:nvPr/>
        </p:nvSpPr>
        <p:spPr>
          <a:xfrm>
            <a:off x="5916168" y="4658868"/>
            <a:ext cx="1170432"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DECISION MAKING</a:t>
            </a:r>
            <a:endParaRPr lang="en-US" sz="800" dirty="0"/>
          </a:p>
        </p:txBody>
      </p:sp>
      <p:sp>
        <p:nvSpPr>
          <p:cNvPr id="33" name="Text 31"/>
          <p:cNvSpPr/>
          <p:nvPr/>
        </p:nvSpPr>
        <p:spPr>
          <a:xfrm>
            <a:off x="896112" y="5175504"/>
            <a:ext cx="9875520" cy="402336"/>
          </a:xfrm>
          <a:prstGeom prst="rect">
            <a:avLst/>
          </a:prstGeom>
          <a:noFill/>
          <a:ln/>
        </p:spPr>
        <p:txBody>
          <a:bodyPr wrap="square" lIns="0" tIns="0" rIns="0" bIns="0" rtlCol="0" anchor="t">
            <a:normAutofit/>
          </a:bodyPr>
          <a:lstStyle/>
          <a:p>
            <a:pPr algn="ctr" indent="0" marL="0">
              <a:buNone/>
            </a:pPr>
            <a:r>
              <a:rPr lang="en-US" sz="1230" dirty="0">
                <a:solidFill>
                  <a:srgbClr val="64646B"/>
                </a:solidFill>
                <a:latin typeface="Inter" pitchFamily="34" charset="0"/>
                <a:ea typeface="Arial" pitchFamily="34" charset="-122"/>
                <a:cs typeface="Arial" pitchFamily="34" charset="-120"/>
              </a:rPr>
              <a:t>The source describes this as an initial no-code predictive modeling framework supported by GenAI for structured model logic and evaluation criteria.</a:t>
            </a:r>
            <a:endParaRPr lang="en-US" sz="123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777240" cy="502920"/>
          </a:xfrm>
          <a:prstGeom prst="rect">
            <a:avLst/>
          </a:prstGeom>
          <a:noFill/>
          <a:ln/>
        </p:spPr>
        <p:txBody>
          <a:bodyPr wrap="square" lIns="0" tIns="0" rIns="0" bIns="0" rtlCol="0" anchor="ctr"/>
          <a:lstStyle/>
          <a:p>
            <a:pPr indent="0" marL="0">
              <a:buNone/>
            </a:pPr>
            <a:r>
              <a:rPr lang="en-US" sz="2600" b="1" spc="50" kern="0" dirty="0">
                <a:solidFill>
                  <a:srgbClr val="1600FF"/>
                </a:solidFill>
                <a:latin typeface="Inter" pitchFamily="34" charset="0"/>
                <a:ea typeface="Arial Narrow" pitchFamily="34" charset="-122"/>
                <a:cs typeface="Arial Narrow" pitchFamily="34" charset="-120"/>
              </a:rPr>
              <a:t>06</a:t>
            </a:r>
            <a:endParaRPr lang="en-US" sz="2600" dirty="0"/>
          </a:p>
        </p:txBody>
      </p:sp>
      <p:sp>
        <p:nvSpPr>
          <p:cNvPr id="3" name="Text 1"/>
          <p:cNvSpPr/>
          <p:nvPr/>
        </p:nvSpPr>
        <p:spPr>
          <a:xfrm>
            <a:off x="1234440" y="713232"/>
            <a:ext cx="10241280" cy="658368"/>
          </a:xfrm>
          <a:prstGeom prst="rect">
            <a:avLst/>
          </a:prstGeom>
          <a:noFill/>
          <a:ln/>
        </p:spPr>
        <p:txBody>
          <a:bodyPr wrap="square" lIns="0" tIns="0" rIns="0" bIns="0" rtlCol="0" anchor="ctr">
            <a:normAutofit/>
          </a:bodyPr>
          <a:lstStyle/>
          <a:p>
            <a:pPr indent="0" marL="0">
              <a:buNone/>
            </a:pPr>
            <a:r>
              <a:rPr lang="en-US" sz="3100" b="1" dirty="0">
                <a:solidFill>
                  <a:srgbClr val="17171A"/>
                </a:solidFill>
                <a:latin typeface="Inter" pitchFamily="34" charset="0"/>
                <a:ea typeface="Arial Narrow" pitchFamily="34" charset="-122"/>
                <a:cs typeface="Arial Narrow" pitchFamily="34" charset="-120"/>
              </a:rPr>
              <a:t>AI-Driven Collections Strategy</a:t>
            </a:r>
            <a:endParaRPr lang="en-US" sz="3100" dirty="0"/>
          </a:p>
        </p:txBody>
      </p:sp>
      <p:sp>
        <p:nvSpPr>
          <p:cNvPr id="4" name="Text 2"/>
          <p:cNvSpPr/>
          <p:nvPr/>
        </p:nvSpPr>
        <p:spPr>
          <a:xfrm>
            <a:off x="1243584" y="1353312"/>
            <a:ext cx="8046720" cy="219456"/>
          </a:xfrm>
          <a:prstGeom prst="rect">
            <a:avLst/>
          </a:prstGeom>
          <a:noFill/>
          <a:ln/>
        </p:spPr>
        <p:txBody>
          <a:bodyPr wrap="square" lIns="0" tIns="0" rIns="0" bIns="0" rtlCol="0" anchor="ctr"/>
          <a:lstStyle/>
          <a:p>
            <a:pPr indent="0" marL="0">
              <a:buNone/>
            </a:pPr>
            <a:r>
              <a:rPr lang="en-US" sz="850" b="1" spc="140" kern="0" dirty="0">
                <a:solidFill>
                  <a:srgbClr val="1600FF"/>
                </a:solidFill>
                <a:latin typeface="Inter"/>
              </a:rPr>
              <a:t>FROM ANALYSIS TO ACTION</a:t>
            </a:r>
            <a:endParaRPr lang="en-US" sz="850" dirty="0"/>
          </a:p>
        </p:txBody>
      </p:sp>
      <p:sp>
        <p:nvSpPr>
          <p:cNvPr id="5" name="Shape 3"/>
          <p:cNvSpPr/>
          <p:nvPr/>
        </p:nvSpPr>
        <p:spPr>
          <a:xfrm>
            <a:off x="603504" y="1874520"/>
            <a:ext cx="10972800" cy="3794760"/>
          </a:xfrm>
          <a:prstGeom prst="roundRect">
            <a:avLst>
              <a:gd name="adj" fmla="val 1928"/>
            </a:avLst>
          </a:prstGeom>
          <a:solidFill>
            <a:srgbClr val="FFFFFF"/>
          </a:solidFill>
          <a:ln w="10160">
            <a:solidFill>
              <a:srgbClr val="DADAE0"/>
            </a:solidFill>
            <a:prstDash val="solid"/>
          </a:ln>
          <a:effectLst>
            <a:outerShdw sx="100000" sy="100000" kx="0" ky="0" algn="bl" rotWithShape="0" blurRad="25400" dist="12700" dir="2700000">
              <a:srgbClr val="000000">
                <a:alpha val="12000"/>
              </a:srgbClr>
            </a:outerShdw>
          </a:effectLst>
        </p:spPr>
        <p:txBody>
          <a:bodyPr/>
          <a:p/>
        </p:txBody>
      </p:sp>
      <p:sp>
        <p:nvSpPr>
          <p:cNvPr id="6" name="Text 4"/>
          <p:cNvSpPr/>
          <p:nvPr/>
        </p:nvSpPr>
        <p:spPr>
          <a:xfrm>
            <a:off x="877824" y="2176272"/>
            <a:ext cx="457200" cy="256032"/>
          </a:xfrm>
          <a:prstGeom prst="rect">
            <a:avLst/>
          </a:prstGeom>
          <a:noFill/>
          <a:ln/>
        </p:spPr>
        <p:txBody>
          <a:bodyPr wrap="square" lIns="0" tIns="0" rIns="0" bIns="0" rtlCol="0" anchor="ctr"/>
          <a:lstStyle/>
          <a:p>
            <a:pPr indent="0" marL="0">
              <a:buNone/>
            </a:pPr>
            <a:r>
              <a:rPr lang="en-US" sz="1700" b="1" dirty="0">
                <a:solidFill>
                  <a:srgbClr val="1600FF"/>
                </a:solidFill>
                <a:latin typeface="Inter"/>
              </a:rPr>
              <a:t>01</a:t>
            </a:r>
            <a:endParaRPr lang="en-US" sz="1700" dirty="0"/>
          </a:p>
        </p:txBody>
      </p:sp>
      <p:sp>
        <p:nvSpPr>
          <p:cNvPr id="7" name="Shape 5"/>
          <p:cNvSpPr/>
          <p:nvPr/>
        </p:nvSpPr>
        <p:spPr>
          <a:xfrm>
            <a:off x="896112" y="2542032"/>
            <a:ext cx="1965960" cy="0"/>
          </a:xfrm>
          <a:prstGeom prst="line">
            <a:avLst/>
          </a:prstGeom>
          <a:noFill/>
          <a:ln w="19050">
            <a:solidFill>
              <a:srgbClr val="1600FF"/>
            </a:solidFill>
            <a:prstDash val="solid"/>
            <a:headEnd type="none"/>
            <a:tailEnd type="triangle"/>
          </a:ln>
        </p:spPr>
        <p:txBody>
          <a:bodyPr/>
          <a:p/>
        </p:txBody>
      </p:sp>
      <p:sp>
        <p:nvSpPr>
          <p:cNvPr id="8" name="Text 6"/>
          <p:cNvSpPr/>
          <p:nvPr/>
        </p:nvSpPr>
        <p:spPr>
          <a:xfrm>
            <a:off x="877824" y="2724912"/>
            <a:ext cx="2331720" cy="310896"/>
          </a:xfrm>
          <a:prstGeom prst="rect">
            <a:avLst/>
          </a:prstGeom>
          <a:noFill/>
          <a:ln/>
        </p:spPr>
        <p:txBody>
          <a:bodyPr wrap="square" lIns="0" tIns="0" rIns="0" bIns="0" rtlCol="0" anchor="ctr"/>
          <a:lstStyle/>
          <a:p>
            <a:pPr indent="0" marL="0">
              <a:buNone/>
            </a:pPr>
            <a:r>
              <a:rPr lang="en-US" sz="1600" b="1" dirty="0">
                <a:solidFill>
                  <a:srgbClr val="17171A"/>
                </a:solidFill>
                <a:latin typeface="Inter"/>
              </a:rPr>
              <a:t>Identify risk</a:t>
            </a:r>
            <a:endParaRPr lang="en-US" sz="1600" dirty="0"/>
          </a:p>
        </p:txBody>
      </p:sp>
      <p:sp>
        <p:nvSpPr>
          <p:cNvPr id="9" name="Text 7"/>
          <p:cNvSpPr/>
          <p:nvPr/>
        </p:nvSpPr>
        <p:spPr>
          <a:xfrm>
            <a:off x="877824" y="3246120"/>
            <a:ext cx="2240280" cy="969264"/>
          </a:xfrm>
          <a:prstGeom prst="rect">
            <a:avLst/>
          </a:prstGeom>
          <a:noFill/>
          <a:ln/>
        </p:spPr>
        <p:txBody>
          <a:bodyPr wrap="square" lIns="0" tIns="0" rIns="0" bIns="0" rtlCol="0" anchor="ctr">
            <a:normAutofit/>
          </a:bodyPr>
          <a:lstStyle/>
          <a:p>
            <a:pPr indent="0" marL="0">
              <a:buNone/>
            </a:pPr>
            <a:r>
              <a:rPr lang="en-US" sz="1180" dirty="0">
                <a:solidFill>
                  <a:srgbClr val="64646B"/>
                </a:solidFill>
                <a:latin typeface="Inter"/>
              </a:rPr>
              <a:t>Use predictive signals to identify customers who may need attention.</a:t>
            </a:r>
            <a:endParaRPr lang="en-US" sz="1180" dirty="0"/>
          </a:p>
        </p:txBody>
      </p:sp>
      <p:sp>
        <p:nvSpPr>
          <p:cNvPr id="10" name="Text 8"/>
          <p:cNvSpPr/>
          <p:nvPr/>
        </p:nvSpPr>
        <p:spPr>
          <a:xfrm>
            <a:off x="3575304" y="2176272"/>
            <a:ext cx="457200" cy="256032"/>
          </a:xfrm>
          <a:prstGeom prst="rect">
            <a:avLst/>
          </a:prstGeom>
          <a:noFill/>
          <a:ln/>
        </p:spPr>
        <p:txBody>
          <a:bodyPr wrap="square" lIns="0" tIns="0" rIns="0" bIns="0" rtlCol="0" anchor="ctr"/>
          <a:lstStyle/>
          <a:p>
            <a:pPr indent="0" marL="0">
              <a:buNone/>
            </a:pPr>
            <a:r>
              <a:rPr lang="en-US" sz="1700" b="1" dirty="0">
                <a:solidFill>
                  <a:srgbClr val="1600FF"/>
                </a:solidFill>
                <a:latin typeface="Inter"/>
              </a:rPr>
              <a:t>02</a:t>
            </a:r>
            <a:endParaRPr lang="en-US" sz="1700" dirty="0"/>
          </a:p>
        </p:txBody>
      </p:sp>
      <p:sp>
        <p:nvSpPr>
          <p:cNvPr id="11" name="Shape 9"/>
          <p:cNvSpPr/>
          <p:nvPr/>
        </p:nvSpPr>
        <p:spPr>
          <a:xfrm>
            <a:off x="3593592" y="2542032"/>
            <a:ext cx="1965960" cy="0"/>
          </a:xfrm>
          <a:prstGeom prst="line">
            <a:avLst/>
          </a:prstGeom>
          <a:noFill/>
          <a:ln w="19050">
            <a:solidFill>
              <a:srgbClr val="1600FF"/>
            </a:solidFill>
            <a:prstDash val="solid"/>
            <a:headEnd type="none"/>
            <a:tailEnd type="triangle"/>
          </a:ln>
        </p:spPr>
        <p:txBody>
          <a:bodyPr/>
          <a:p/>
        </p:txBody>
      </p:sp>
      <p:sp>
        <p:nvSpPr>
          <p:cNvPr id="12" name="Text 10"/>
          <p:cNvSpPr/>
          <p:nvPr/>
        </p:nvSpPr>
        <p:spPr>
          <a:xfrm>
            <a:off x="3575304" y="2724912"/>
            <a:ext cx="2331720" cy="310896"/>
          </a:xfrm>
          <a:prstGeom prst="rect">
            <a:avLst/>
          </a:prstGeom>
          <a:noFill/>
          <a:ln/>
        </p:spPr>
        <p:txBody>
          <a:bodyPr wrap="square" lIns="0" tIns="0" rIns="0" bIns="0" rtlCol="0" anchor="ctr"/>
          <a:lstStyle/>
          <a:p>
            <a:pPr indent="0" marL="0">
              <a:buNone/>
            </a:pPr>
            <a:r>
              <a:rPr lang="en-US" sz="1600" b="1" dirty="0">
                <a:solidFill>
                  <a:srgbClr val="17171A"/>
                </a:solidFill>
                <a:latin typeface="Inter"/>
              </a:rPr>
              <a:t>Prioritize action</a:t>
            </a:r>
            <a:endParaRPr lang="en-US" sz="1600" dirty="0"/>
          </a:p>
        </p:txBody>
      </p:sp>
      <p:sp>
        <p:nvSpPr>
          <p:cNvPr id="13" name="Text 11"/>
          <p:cNvSpPr/>
          <p:nvPr/>
        </p:nvSpPr>
        <p:spPr>
          <a:xfrm>
            <a:off x="3575304" y="3246120"/>
            <a:ext cx="2240280" cy="969264"/>
          </a:xfrm>
          <a:prstGeom prst="rect">
            <a:avLst/>
          </a:prstGeom>
          <a:noFill/>
          <a:ln/>
        </p:spPr>
        <p:txBody>
          <a:bodyPr wrap="square" lIns="0" tIns="0" rIns="0" bIns="0" rtlCol="0" anchor="ctr">
            <a:normAutofit/>
          </a:bodyPr>
          <a:lstStyle/>
          <a:p>
            <a:pPr indent="0" marL="0">
              <a:buNone/>
            </a:pPr>
            <a:r>
              <a:rPr lang="en-US" sz="1180" dirty="0">
                <a:solidFill>
                  <a:srgbClr val="64646B"/>
                </a:solidFill>
                <a:latin typeface="Inter"/>
              </a:rPr>
              <a:t>Use structured criteria to organize outreach and collections effort.</a:t>
            </a:r>
            <a:endParaRPr lang="en-US" sz="1180" dirty="0"/>
          </a:p>
        </p:txBody>
      </p:sp>
      <p:sp>
        <p:nvSpPr>
          <p:cNvPr id="14" name="Text 12"/>
          <p:cNvSpPr/>
          <p:nvPr/>
        </p:nvSpPr>
        <p:spPr>
          <a:xfrm>
            <a:off x="6272784" y="2176272"/>
            <a:ext cx="457200" cy="256032"/>
          </a:xfrm>
          <a:prstGeom prst="rect">
            <a:avLst/>
          </a:prstGeom>
          <a:noFill/>
          <a:ln/>
        </p:spPr>
        <p:txBody>
          <a:bodyPr wrap="square" lIns="0" tIns="0" rIns="0" bIns="0" rtlCol="0" anchor="ctr"/>
          <a:lstStyle/>
          <a:p>
            <a:pPr indent="0" marL="0">
              <a:buNone/>
            </a:pPr>
            <a:r>
              <a:rPr lang="en-US" sz="1700" b="1" dirty="0">
                <a:solidFill>
                  <a:srgbClr val="1600FF"/>
                </a:solidFill>
                <a:latin typeface="Inter"/>
              </a:rPr>
              <a:t>03</a:t>
            </a:r>
            <a:endParaRPr lang="en-US" sz="1700" dirty="0"/>
          </a:p>
        </p:txBody>
      </p:sp>
      <p:sp>
        <p:nvSpPr>
          <p:cNvPr id="15" name="Shape 13"/>
          <p:cNvSpPr/>
          <p:nvPr/>
        </p:nvSpPr>
        <p:spPr>
          <a:xfrm>
            <a:off x="6291072" y="2542032"/>
            <a:ext cx="1965960" cy="0"/>
          </a:xfrm>
          <a:prstGeom prst="line">
            <a:avLst/>
          </a:prstGeom>
          <a:noFill/>
          <a:ln w="19050">
            <a:solidFill>
              <a:srgbClr val="1600FF"/>
            </a:solidFill>
            <a:prstDash val="solid"/>
            <a:headEnd type="none"/>
            <a:tailEnd type="triangle"/>
          </a:ln>
        </p:spPr>
        <p:txBody>
          <a:bodyPr/>
          <a:p/>
        </p:txBody>
      </p:sp>
      <p:sp>
        <p:nvSpPr>
          <p:cNvPr id="16" name="Text 14"/>
          <p:cNvSpPr/>
          <p:nvPr/>
        </p:nvSpPr>
        <p:spPr>
          <a:xfrm>
            <a:off x="6272784" y="2724912"/>
            <a:ext cx="2331720" cy="310896"/>
          </a:xfrm>
          <a:prstGeom prst="rect">
            <a:avLst/>
          </a:prstGeom>
          <a:noFill/>
          <a:ln/>
        </p:spPr>
        <p:txBody>
          <a:bodyPr wrap="square" lIns="0" tIns="0" rIns="0" bIns="0" rtlCol="0" anchor="ctr"/>
          <a:lstStyle/>
          <a:p>
            <a:pPr indent="0" marL="0">
              <a:buNone/>
            </a:pPr>
            <a:r>
              <a:rPr lang="en-US" sz="1600" b="1" dirty="0">
                <a:solidFill>
                  <a:srgbClr val="17171A"/>
                </a:solidFill>
                <a:latin typeface="Inter"/>
              </a:rPr>
              <a:t>Automate support</a:t>
            </a:r>
            <a:endParaRPr lang="en-US" sz="1600" dirty="0"/>
          </a:p>
        </p:txBody>
      </p:sp>
      <p:sp>
        <p:nvSpPr>
          <p:cNvPr id="17" name="Text 15"/>
          <p:cNvSpPr/>
          <p:nvPr/>
        </p:nvSpPr>
        <p:spPr>
          <a:xfrm>
            <a:off x="6272784" y="3246120"/>
            <a:ext cx="2240280" cy="969264"/>
          </a:xfrm>
          <a:prstGeom prst="rect">
            <a:avLst/>
          </a:prstGeom>
          <a:noFill/>
          <a:ln/>
        </p:spPr>
        <p:txBody>
          <a:bodyPr wrap="square" lIns="0" tIns="0" rIns="0" bIns="0" rtlCol="0" anchor="ctr">
            <a:normAutofit/>
          </a:bodyPr>
          <a:lstStyle/>
          <a:p>
            <a:pPr indent="0" marL="0">
              <a:buNone/>
            </a:pPr>
            <a:r>
              <a:rPr lang="en-US" sz="1180" dirty="0">
                <a:solidFill>
                  <a:srgbClr val="64646B"/>
                </a:solidFill>
                <a:latin typeface="Inter"/>
              </a:rPr>
              <a:t>Leverage agentic AI and automation for scalable workflows.</a:t>
            </a:r>
            <a:endParaRPr lang="en-US" sz="1180" dirty="0"/>
          </a:p>
        </p:txBody>
      </p:sp>
      <p:sp>
        <p:nvSpPr>
          <p:cNvPr id="18" name="Text 16"/>
          <p:cNvSpPr/>
          <p:nvPr/>
        </p:nvSpPr>
        <p:spPr>
          <a:xfrm>
            <a:off x="8970264" y="2176272"/>
            <a:ext cx="457200" cy="256032"/>
          </a:xfrm>
          <a:prstGeom prst="rect">
            <a:avLst/>
          </a:prstGeom>
          <a:noFill/>
          <a:ln/>
        </p:spPr>
        <p:txBody>
          <a:bodyPr wrap="square" lIns="0" tIns="0" rIns="0" bIns="0" rtlCol="0" anchor="ctr"/>
          <a:lstStyle/>
          <a:p>
            <a:pPr indent="0" marL="0">
              <a:buNone/>
            </a:pPr>
            <a:r>
              <a:rPr lang="en-US" sz="1700" b="1" dirty="0">
                <a:solidFill>
                  <a:srgbClr val="1600FF"/>
                </a:solidFill>
                <a:latin typeface="Inter"/>
              </a:rPr>
              <a:t>04</a:t>
            </a:r>
            <a:endParaRPr lang="en-US" sz="1700" dirty="0"/>
          </a:p>
        </p:txBody>
      </p:sp>
      <p:sp>
        <p:nvSpPr>
          <p:cNvPr id="19" name="Shape 17"/>
          <p:cNvSpPr/>
          <p:nvPr/>
        </p:nvSpPr>
        <p:spPr>
          <a:xfrm>
            <a:off x="8988552" y="2542032"/>
            <a:ext cx="1965960" cy="0"/>
          </a:xfrm>
          <a:prstGeom prst="line">
            <a:avLst/>
          </a:prstGeom>
          <a:noFill/>
          <a:ln w="19050">
            <a:solidFill>
              <a:srgbClr val="1600FF"/>
            </a:solidFill>
            <a:prstDash val="solid"/>
            <a:headEnd type="none"/>
            <a:tailEnd type="triangle"/>
          </a:ln>
        </p:spPr>
        <p:txBody>
          <a:bodyPr/>
          <a:p/>
        </p:txBody>
      </p:sp>
      <p:sp>
        <p:nvSpPr>
          <p:cNvPr id="20" name="Text 18"/>
          <p:cNvSpPr/>
          <p:nvPr/>
        </p:nvSpPr>
        <p:spPr>
          <a:xfrm>
            <a:off x="8970264" y="2724912"/>
            <a:ext cx="2331720" cy="310896"/>
          </a:xfrm>
          <a:prstGeom prst="rect">
            <a:avLst/>
          </a:prstGeom>
          <a:noFill/>
          <a:ln/>
        </p:spPr>
        <p:txBody>
          <a:bodyPr wrap="square" lIns="0" tIns="0" rIns="0" bIns="0" rtlCol="0" anchor="ctr"/>
          <a:lstStyle/>
          <a:p>
            <a:pPr indent="0" marL="0">
              <a:buNone/>
            </a:pPr>
            <a:r>
              <a:rPr lang="en-US" sz="1600" b="1" dirty="0">
                <a:solidFill>
                  <a:srgbClr val="17171A"/>
                </a:solidFill>
                <a:latin typeface="Inter"/>
              </a:rPr>
              <a:t>Keep safeguards</a:t>
            </a:r>
            <a:endParaRPr lang="en-US" sz="1600" dirty="0"/>
          </a:p>
        </p:txBody>
      </p:sp>
      <p:sp>
        <p:nvSpPr>
          <p:cNvPr id="21" name="Text 19"/>
          <p:cNvSpPr/>
          <p:nvPr/>
        </p:nvSpPr>
        <p:spPr>
          <a:xfrm>
            <a:off x="8970264" y="3246120"/>
            <a:ext cx="2240280" cy="969264"/>
          </a:xfrm>
          <a:prstGeom prst="rect">
            <a:avLst/>
          </a:prstGeom>
          <a:noFill/>
          <a:ln/>
        </p:spPr>
        <p:txBody>
          <a:bodyPr wrap="square" lIns="0" tIns="0" rIns="0" bIns="0" rtlCol="0" anchor="ctr">
            <a:normAutofit/>
          </a:bodyPr>
          <a:lstStyle/>
          <a:p>
            <a:pPr indent="0" marL="0">
              <a:buNone/>
            </a:pPr>
            <a:r>
              <a:rPr lang="en-US" sz="1180" dirty="0">
                <a:solidFill>
                  <a:srgbClr val="64646B"/>
                </a:solidFill>
                <a:latin typeface="Inter"/>
              </a:rPr>
              <a:t>Apply ethical AI principles and regulatory compliance throughout.</a:t>
            </a:r>
            <a:endParaRPr lang="en-US" sz="1180" dirty="0"/>
          </a:p>
        </p:txBody>
      </p:sp>
      <p:sp>
        <p:nvSpPr>
          <p:cNvPr id="22" name="Shape 20"/>
          <p:cNvSpPr/>
          <p:nvPr/>
        </p:nvSpPr>
        <p:spPr>
          <a:xfrm>
            <a:off x="877824" y="4855464"/>
            <a:ext cx="10021824" cy="45720"/>
          </a:xfrm>
          <a:prstGeom prst="rect">
            <a:avLst/>
          </a:prstGeom>
          <a:solidFill>
            <a:srgbClr val="E1E0E6"/>
          </a:solidFill>
          <a:ln w="12700">
            <a:solidFill>
              <a:srgbClr val="E1E0E6"/>
            </a:solidFill>
            <a:prstDash val="solid"/>
          </a:ln>
        </p:spPr>
        <p:txBody>
          <a:bodyPr/>
          <a:p/>
        </p:txBody>
      </p:sp>
      <p:sp>
        <p:nvSpPr>
          <p:cNvPr id="23" name="Text 21"/>
          <p:cNvSpPr/>
          <p:nvPr/>
        </p:nvSpPr>
        <p:spPr>
          <a:xfrm>
            <a:off x="914400" y="5084064"/>
            <a:ext cx="1243584" cy="219456"/>
          </a:xfrm>
          <a:prstGeom prst="rect">
            <a:avLst/>
          </a:prstGeom>
          <a:noFill/>
          <a:ln/>
        </p:spPr>
        <p:txBody>
          <a:bodyPr wrap="square" lIns="0" tIns="0" rIns="0" bIns="0" rtlCol="0" anchor="t">
            <a:normAutofit/>
          </a:bodyPr>
          <a:lstStyle/>
          <a:p>
            <a:pPr algn="l" indent="0" marL="0">
              <a:buNone/>
            </a:pPr>
            <a:r>
              <a:rPr lang="en-US" sz="1050" b="1" dirty="0">
                <a:solidFill>
                  <a:srgbClr val="1600FF"/>
                </a:solidFill>
                <a:latin typeface="Inter" pitchFamily="34" charset="0"/>
                <a:ea typeface="Arial" pitchFamily="34" charset="-122"/>
                <a:cs typeface="Arial" pitchFamily="34" charset="-120"/>
              </a:rPr>
              <a:t>Strategy theme</a:t>
            </a:r>
            <a:endParaRPr lang="en-US" sz="1050" dirty="0"/>
          </a:p>
        </p:txBody>
      </p:sp>
      <p:sp>
        <p:nvSpPr>
          <p:cNvPr id="24" name="Text 22"/>
          <p:cNvSpPr/>
          <p:nvPr/>
        </p:nvSpPr>
        <p:spPr>
          <a:xfrm>
            <a:off x="2084832" y="5038344"/>
            <a:ext cx="8503920" cy="457200"/>
          </a:xfrm>
          <a:prstGeom prst="rect">
            <a:avLst/>
          </a:prstGeom>
          <a:noFill/>
          <a:ln/>
        </p:spPr>
        <p:txBody>
          <a:bodyPr wrap="square" lIns="0" tIns="0" rIns="0" bIns="0" rtlCol="0" anchor="t">
            <a:normAutofit/>
          </a:bodyPr>
          <a:lstStyle/>
          <a:p>
            <a:pPr algn="l" indent="0" marL="0">
              <a:buNone/>
            </a:pPr>
            <a:r>
              <a:rPr lang="en-US" sz="1310" dirty="0">
                <a:solidFill>
                  <a:srgbClr val="64646B"/>
                </a:solidFill>
                <a:latin typeface="Inter" pitchFamily="34" charset="0"/>
                <a:ea typeface="Arial" pitchFamily="34" charset="-122"/>
                <a:cs typeface="Arial" pitchFamily="34" charset="-120"/>
              </a:rPr>
              <a:t>Combine analytical evidence, automation and responsible decision-making into a scalable collections process.</a:t>
            </a:r>
            <a:endParaRPr lang="en-US" sz="131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777240" cy="502920"/>
          </a:xfrm>
          <a:prstGeom prst="rect">
            <a:avLst/>
          </a:prstGeom>
          <a:noFill/>
          <a:ln/>
        </p:spPr>
        <p:txBody>
          <a:bodyPr wrap="square" lIns="0" tIns="0" rIns="0" bIns="0" rtlCol="0" anchor="ctr"/>
          <a:lstStyle/>
          <a:p>
            <a:pPr indent="0" marL="0">
              <a:buNone/>
            </a:pPr>
            <a:r>
              <a:rPr lang="en-US" sz="2600" b="1" spc="50" kern="0" dirty="0">
                <a:solidFill>
                  <a:srgbClr val="1600FF"/>
                </a:solidFill>
                <a:latin typeface="Inter" pitchFamily="34" charset="0"/>
                <a:ea typeface="Arial Narrow" pitchFamily="34" charset="-122"/>
                <a:cs typeface="Arial Narrow" pitchFamily="34" charset="-120"/>
              </a:rPr>
              <a:t>07</a:t>
            </a:r>
            <a:endParaRPr lang="en-US" sz="2600" dirty="0"/>
          </a:p>
        </p:txBody>
      </p:sp>
      <p:sp>
        <p:nvSpPr>
          <p:cNvPr id="3" name="Text 1"/>
          <p:cNvSpPr/>
          <p:nvPr/>
        </p:nvSpPr>
        <p:spPr>
          <a:xfrm>
            <a:off x="1234440" y="713232"/>
            <a:ext cx="10241280" cy="658368"/>
          </a:xfrm>
          <a:prstGeom prst="rect">
            <a:avLst/>
          </a:prstGeom>
          <a:noFill/>
          <a:ln/>
        </p:spPr>
        <p:txBody>
          <a:bodyPr wrap="square" lIns="0" tIns="0" rIns="0" bIns="0" rtlCol="0" anchor="ctr">
            <a:normAutofit/>
          </a:bodyPr>
          <a:lstStyle/>
          <a:p>
            <a:pPr indent="0" marL="0">
              <a:buNone/>
            </a:pPr>
            <a:r>
              <a:rPr lang="en-US" sz="3100" b="1" dirty="0">
                <a:solidFill>
                  <a:srgbClr val="17171A"/>
                </a:solidFill>
                <a:latin typeface="Inter" pitchFamily="34" charset="0"/>
                <a:ea typeface="Arial Narrow" pitchFamily="34" charset="-122"/>
                <a:cs typeface="Arial Narrow" pitchFamily="34" charset="-120"/>
              </a:rPr>
              <a:t>Responsible AI &amp; Governance</a:t>
            </a:r>
            <a:endParaRPr lang="en-US" sz="3100" dirty="0"/>
          </a:p>
        </p:txBody>
      </p:sp>
      <p:sp>
        <p:nvSpPr>
          <p:cNvPr id="4" name="Text 2"/>
          <p:cNvSpPr/>
          <p:nvPr/>
        </p:nvSpPr>
        <p:spPr>
          <a:xfrm>
            <a:off x="1243584" y="1353312"/>
            <a:ext cx="8046720" cy="219456"/>
          </a:xfrm>
          <a:prstGeom prst="rect">
            <a:avLst/>
          </a:prstGeom>
          <a:noFill/>
          <a:ln/>
        </p:spPr>
        <p:txBody>
          <a:bodyPr wrap="square" lIns="0" tIns="0" rIns="0" bIns="0" rtlCol="0" anchor="ctr"/>
          <a:lstStyle/>
          <a:p>
            <a:pPr indent="0" marL="0">
              <a:buNone/>
            </a:pPr>
            <a:r>
              <a:rPr lang="en-US" sz="850" b="1" spc="140" kern="0" dirty="0">
                <a:solidFill>
                  <a:srgbClr val="1600FF"/>
                </a:solidFill>
                <a:latin typeface="Inter"/>
              </a:rPr>
              <a:t>MAKING THE STRATEGY USABLE IN THE REAL WORLD</a:t>
            </a:r>
            <a:endParaRPr lang="en-US" sz="850" dirty="0"/>
          </a:p>
        </p:txBody>
      </p:sp>
      <p:sp>
        <p:nvSpPr>
          <p:cNvPr id="5" name="Shape 3"/>
          <p:cNvSpPr/>
          <p:nvPr/>
        </p:nvSpPr>
        <p:spPr>
          <a:xfrm>
            <a:off x="603504" y="1901952"/>
            <a:ext cx="5340096" cy="1572768"/>
          </a:xfrm>
          <a:prstGeom prst="roundRect">
            <a:avLst>
              <a:gd name="adj" fmla="val 4651"/>
            </a:avLst>
          </a:prstGeom>
          <a:solidFill>
            <a:srgbClr val="F7F6FF"/>
          </a:solidFill>
          <a:ln w="10160">
            <a:solidFill>
              <a:srgbClr val="1600FF"/>
            </a:solidFill>
            <a:prstDash val="solid"/>
          </a:ln>
        </p:spPr>
        <p:txBody>
          <a:bodyPr/>
          <a:p/>
        </p:txBody>
      </p:sp>
      <p:sp>
        <p:nvSpPr>
          <p:cNvPr id="6" name="Text 4"/>
          <p:cNvSpPr/>
          <p:nvPr/>
        </p:nvSpPr>
        <p:spPr>
          <a:xfrm>
            <a:off x="822960" y="2121408"/>
            <a:ext cx="411480" cy="201168"/>
          </a:xfrm>
          <a:prstGeom prst="rect">
            <a:avLst/>
          </a:prstGeom>
          <a:noFill/>
          <a:ln/>
        </p:spPr>
        <p:txBody>
          <a:bodyPr wrap="square" lIns="0" tIns="0" rIns="0" bIns="0" rtlCol="0" anchor="ctr"/>
          <a:lstStyle/>
          <a:p>
            <a:pPr indent="0" marL="0">
              <a:buNone/>
            </a:pPr>
            <a:r>
              <a:rPr lang="en-US" sz="1300" b="1" dirty="0">
                <a:solidFill>
                  <a:srgbClr val="1600FF"/>
                </a:solidFill>
                <a:latin typeface="Inter"/>
              </a:rPr>
              <a:t>01</a:t>
            </a:r>
            <a:endParaRPr lang="en-US" sz="1300" dirty="0"/>
          </a:p>
        </p:txBody>
      </p:sp>
      <p:sp>
        <p:nvSpPr>
          <p:cNvPr id="7" name="Text 5"/>
          <p:cNvSpPr/>
          <p:nvPr/>
        </p:nvSpPr>
        <p:spPr>
          <a:xfrm>
            <a:off x="1380744" y="2093976"/>
            <a:ext cx="3154680" cy="292608"/>
          </a:xfrm>
          <a:prstGeom prst="rect">
            <a:avLst/>
          </a:prstGeom>
          <a:noFill/>
          <a:ln/>
        </p:spPr>
        <p:txBody>
          <a:bodyPr wrap="square" lIns="0" tIns="0" rIns="0" bIns="0" rtlCol="0" anchor="ctr"/>
          <a:lstStyle/>
          <a:p>
            <a:pPr indent="0" marL="0">
              <a:buNone/>
            </a:pPr>
            <a:r>
              <a:rPr lang="en-US" sz="1600" b="1" dirty="0">
                <a:solidFill>
                  <a:srgbClr val="17171A"/>
                </a:solidFill>
                <a:latin typeface="Inter"/>
              </a:rPr>
              <a:t>Ethical reasoning</a:t>
            </a:r>
            <a:endParaRPr lang="en-US" sz="1600" dirty="0"/>
          </a:p>
        </p:txBody>
      </p:sp>
      <p:sp>
        <p:nvSpPr>
          <p:cNvPr id="8" name="Text 6"/>
          <p:cNvSpPr/>
          <p:nvPr/>
        </p:nvSpPr>
        <p:spPr>
          <a:xfrm>
            <a:off x="1380744" y="2560320"/>
            <a:ext cx="4023360" cy="512064"/>
          </a:xfrm>
          <a:prstGeom prst="rect">
            <a:avLst/>
          </a:prstGeom>
          <a:noFill/>
          <a:ln/>
        </p:spPr>
        <p:txBody>
          <a:bodyPr wrap="square" lIns="0" tIns="0" rIns="0" bIns="0" rtlCol="0" anchor="ctr">
            <a:normAutofit/>
          </a:bodyPr>
          <a:lstStyle/>
          <a:p>
            <a:pPr indent="0" marL="0">
              <a:buNone/>
            </a:pPr>
            <a:r>
              <a:rPr lang="en-US" sz="1180" dirty="0">
                <a:solidFill>
                  <a:srgbClr val="64646B"/>
                </a:solidFill>
                <a:latin typeface="Inter"/>
              </a:rPr>
              <a:t>Use AI with awareness of responsible decision-making and potential impact.</a:t>
            </a:r>
            <a:endParaRPr lang="en-US" sz="1180" dirty="0"/>
          </a:p>
        </p:txBody>
      </p:sp>
      <p:sp>
        <p:nvSpPr>
          <p:cNvPr id="9" name="Shape 7"/>
          <p:cNvSpPr/>
          <p:nvPr/>
        </p:nvSpPr>
        <p:spPr>
          <a:xfrm>
            <a:off x="6227064" y="1901952"/>
            <a:ext cx="5340096" cy="1572768"/>
          </a:xfrm>
          <a:prstGeom prst="roundRect">
            <a:avLst>
              <a:gd name="adj" fmla="val 4651"/>
            </a:avLst>
          </a:prstGeom>
          <a:solidFill>
            <a:srgbClr val="FFFFFF"/>
          </a:solidFill>
          <a:ln w="10160">
            <a:solidFill>
              <a:srgbClr val="DADAE0"/>
            </a:solidFill>
            <a:prstDash val="solid"/>
          </a:ln>
        </p:spPr>
        <p:txBody>
          <a:bodyPr/>
          <a:p/>
        </p:txBody>
      </p:sp>
      <p:sp>
        <p:nvSpPr>
          <p:cNvPr id="10" name="Text 8"/>
          <p:cNvSpPr/>
          <p:nvPr/>
        </p:nvSpPr>
        <p:spPr>
          <a:xfrm>
            <a:off x="6446520" y="2121408"/>
            <a:ext cx="411480" cy="201168"/>
          </a:xfrm>
          <a:prstGeom prst="rect">
            <a:avLst/>
          </a:prstGeom>
          <a:noFill/>
          <a:ln/>
        </p:spPr>
        <p:txBody>
          <a:bodyPr wrap="square" lIns="0" tIns="0" rIns="0" bIns="0" rtlCol="0" anchor="ctr"/>
          <a:lstStyle/>
          <a:p>
            <a:pPr indent="0" marL="0">
              <a:buNone/>
            </a:pPr>
            <a:r>
              <a:rPr lang="en-US" sz="1300" b="1" dirty="0">
                <a:solidFill>
                  <a:srgbClr val="1600FF"/>
                </a:solidFill>
                <a:latin typeface="Inter"/>
              </a:rPr>
              <a:t>02</a:t>
            </a:r>
            <a:endParaRPr lang="en-US" sz="1300" dirty="0"/>
          </a:p>
        </p:txBody>
      </p:sp>
      <p:sp>
        <p:nvSpPr>
          <p:cNvPr id="11" name="Text 9"/>
          <p:cNvSpPr/>
          <p:nvPr/>
        </p:nvSpPr>
        <p:spPr>
          <a:xfrm>
            <a:off x="7004304" y="2093976"/>
            <a:ext cx="3154680" cy="292608"/>
          </a:xfrm>
          <a:prstGeom prst="rect">
            <a:avLst/>
          </a:prstGeom>
          <a:noFill/>
          <a:ln/>
        </p:spPr>
        <p:txBody>
          <a:bodyPr wrap="square" lIns="0" tIns="0" rIns="0" bIns="0" rtlCol="0" anchor="ctr"/>
          <a:lstStyle/>
          <a:p>
            <a:pPr indent="0" marL="0">
              <a:buNone/>
            </a:pPr>
            <a:r>
              <a:rPr lang="en-US" sz="1600" b="1" dirty="0">
                <a:solidFill>
                  <a:srgbClr val="17171A"/>
                </a:solidFill>
                <a:latin typeface="Inter"/>
              </a:rPr>
              <a:t>Regulatory compliance</a:t>
            </a:r>
            <a:endParaRPr lang="en-US" sz="1600" dirty="0"/>
          </a:p>
        </p:txBody>
      </p:sp>
      <p:sp>
        <p:nvSpPr>
          <p:cNvPr id="12" name="Text 10"/>
          <p:cNvSpPr/>
          <p:nvPr/>
        </p:nvSpPr>
        <p:spPr>
          <a:xfrm>
            <a:off x="7004304" y="2560320"/>
            <a:ext cx="4023360" cy="512064"/>
          </a:xfrm>
          <a:prstGeom prst="rect">
            <a:avLst/>
          </a:prstGeom>
          <a:noFill/>
          <a:ln/>
        </p:spPr>
        <p:txBody>
          <a:bodyPr wrap="square" lIns="0" tIns="0" rIns="0" bIns="0" rtlCol="0" anchor="ctr">
            <a:normAutofit/>
          </a:bodyPr>
          <a:lstStyle/>
          <a:p>
            <a:pPr indent="0" marL="0">
              <a:buNone/>
            </a:pPr>
            <a:r>
              <a:rPr lang="en-US" sz="1180" dirty="0">
                <a:solidFill>
                  <a:srgbClr val="64646B"/>
                </a:solidFill>
                <a:latin typeface="Inter"/>
              </a:rPr>
              <a:t>Keep relevant compliance requirements in scope for the strategy.</a:t>
            </a:r>
            <a:endParaRPr lang="en-US" sz="1180" dirty="0"/>
          </a:p>
        </p:txBody>
      </p:sp>
      <p:sp>
        <p:nvSpPr>
          <p:cNvPr id="13" name="Shape 11"/>
          <p:cNvSpPr/>
          <p:nvPr/>
        </p:nvSpPr>
        <p:spPr>
          <a:xfrm>
            <a:off x="603504" y="3758184"/>
            <a:ext cx="5340096" cy="1572768"/>
          </a:xfrm>
          <a:prstGeom prst="roundRect">
            <a:avLst>
              <a:gd name="adj" fmla="val 4651"/>
            </a:avLst>
          </a:prstGeom>
          <a:solidFill>
            <a:srgbClr val="FFFFFF"/>
          </a:solidFill>
          <a:ln w="10160">
            <a:solidFill>
              <a:srgbClr val="DADAE0"/>
            </a:solidFill>
            <a:prstDash val="solid"/>
          </a:ln>
        </p:spPr>
        <p:txBody>
          <a:bodyPr/>
          <a:p/>
        </p:txBody>
      </p:sp>
      <p:sp>
        <p:nvSpPr>
          <p:cNvPr id="14" name="Text 12"/>
          <p:cNvSpPr/>
          <p:nvPr/>
        </p:nvSpPr>
        <p:spPr>
          <a:xfrm>
            <a:off x="822960" y="3977640"/>
            <a:ext cx="411480" cy="201168"/>
          </a:xfrm>
          <a:prstGeom prst="rect">
            <a:avLst/>
          </a:prstGeom>
          <a:noFill/>
          <a:ln/>
        </p:spPr>
        <p:txBody>
          <a:bodyPr wrap="square" lIns="0" tIns="0" rIns="0" bIns="0" rtlCol="0" anchor="ctr"/>
          <a:lstStyle/>
          <a:p>
            <a:pPr indent="0" marL="0">
              <a:buNone/>
            </a:pPr>
            <a:r>
              <a:rPr lang="en-US" sz="1300" b="1" dirty="0">
                <a:solidFill>
                  <a:srgbClr val="1600FF"/>
                </a:solidFill>
                <a:latin typeface="Inter"/>
              </a:rPr>
              <a:t>03</a:t>
            </a:r>
            <a:endParaRPr lang="en-US" sz="1300" dirty="0"/>
          </a:p>
        </p:txBody>
      </p:sp>
      <p:sp>
        <p:nvSpPr>
          <p:cNvPr id="15" name="Text 13"/>
          <p:cNvSpPr/>
          <p:nvPr/>
        </p:nvSpPr>
        <p:spPr>
          <a:xfrm>
            <a:off x="1380744" y="3950208"/>
            <a:ext cx="3154680" cy="292608"/>
          </a:xfrm>
          <a:prstGeom prst="rect">
            <a:avLst/>
          </a:prstGeom>
          <a:noFill/>
          <a:ln/>
        </p:spPr>
        <p:txBody>
          <a:bodyPr wrap="square" lIns="0" tIns="0" rIns="0" bIns="0" rtlCol="0" anchor="ctr"/>
          <a:lstStyle/>
          <a:p>
            <a:pPr indent="0" marL="0">
              <a:buNone/>
            </a:pPr>
            <a:r>
              <a:rPr lang="en-US" sz="1600" b="1" dirty="0">
                <a:solidFill>
                  <a:srgbClr val="17171A"/>
                </a:solidFill>
                <a:latin typeface="Inter"/>
              </a:rPr>
              <a:t>Process automation</a:t>
            </a:r>
            <a:endParaRPr lang="en-US" sz="1600" dirty="0"/>
          </a:p>
        </p:txBody>
      </p:sp>
      <p:sp>
        <p:nvSpPr>
          <p:cNvPr id="16" name="Text 14"/>
          <p:cNvSpPr/>
          <p:nvPr/>
        </p:nvSpPr>
        <p:spPr>
          <a:xfrm>
            <a:off x="1380744" y="4416552"/>
            <a:ext cx="4023360" cy="512064"/>
          </a:xfrm>
          <a:prstGeom prst="rect">
            <a:avLst/>
          </a:prstGeom>
          <a:noFill/>
          <a:ln/>
        </p:spPr>
        <p:txBody>
          <a:bodyPr wrap="square" lIns="0" tIns="0" rIns="0" bIns="0" rtlCol="0" anchor="ctr">
            <a:normAutofit/>
          </a:bodyPr>
          <a:lstStyle/>
          <a:p>
            <a:pPr indent="0" marL="0">
              <a:buNone/>
            </a:pPr>
            <a:r>
              <a:rPr lang="en-US" sz="1180" dirty="0">
                <a:solidFill>
                  <a:srgbClr val="64646B"/>
                </a:solidFill>
                <a:latin typeface="Inter"/>
              </a:rPr>
              <a:t>Automate repeatable work while keeping the workflow controlled.</a:t>
            </a:r>
            <a:endParaRPr lang="en-US" sz="1180" dirty="0"/>
          </a:p>
        </p:txBody>
      </p:sp>
      <p:sp>
        <p:nvSpPr>
          <p:cNvPr id="17" name="Shape 15"/>
          <p:cNvSpPr/>
          <p:nvPr/>
        </p:nvSpPr>
        <p:spPr>
          <a:xfrm>
            <a:off x="6227064" y="3758184"/>
            <a:ext cx="5340096" cy="1572768"/>
          </a:xfrm>
          <a:prstGeom prst="roundRect">
            <a:avLst>
              <a:gd name="adj" fmla="val 4651"/>
            </a:avLst>
          </a:prstGeom>
          <a:solidFill>
            <a:srgbClr val="FFFFFF"/>
          </a:solidFill>
          <a:ln w="10160">
            <a:solidFill>
              <a:srgbClr val="DADAE0"/>
            </a:solidFill>
            <a:prstDash val="solid"/>
          </a:ln>
        </p:spPr>
        <p:txBody>
          <a:bodyPr/>
          <a:p/>
        </p:txBody>
      </p:sp>
      <p:sp>
        <p:nvSpPr>
          <p:cNvPr id="18" name="Text 16"/>
          <p:cNvSpPr/>
          <p:nvPr/>
        </p:nvSpPr>
        <p:spPr>
          <a:xfrm>
            <a:off x="6446520" y="3977640"/>
            <a:ext cx="411480" cy="201168"/>
          </a:xfrm>
          <a:prstGeom prst="rect">
            <a:avLst/>
          </a:prstGeom>
          <a:noFill/>
          <a:ln/>
        </p:spPr>
        <p:txBody>
          <a:bodyPr wrap="square" lIns="0" tIns="0" rIns="0" bIns="0" rtlCol="0" anchor="ctr"/>
          <a:lstStyle/>
          <a:p>
            <a:pPr indent="0" marL="0">
              <a:buNone/>
            </a:pPr>
            <a:r>
              <a:rPr lang="en-US" sz="1300" b="1" dirty="0">
                <a:solidFill>
                  <a:srgbClr val="1600FF"/>
                </a:solidFill>
                <a:latin typeface="Inter"/>
              </a:rPr>
              <a:t>04</a:t>
            </a:r>
            <a:endParaRPr lang="en-US" sz="1300" dirty="0"/>
          </a:p>
        </p:txBody>
      </p:sp>
      <p:sp>
        <p:nvSpPr>
          <p:cNvPr id="19" name="Text 17"/>
          <p:cNvSpPr/>
          <p:nvPr/>
        </p:nvSpPr>
        <p:spPr>
          <a:xfrm>
            <a:off x="7004304" y="3950208"/>
            <a:ext cx="3154680" cy="292608"/>
          </a:xfrm>
          <a:prstGeom prst="rect">
            <a:avLst/>
          </a:prstGeom>
          <a:noFill/>
          <a:ln/>
        </p:spPr>
        <p:txBody>
          <a:bodyPr wrap="square" lIns="0" tIns="0" rIns="0" bIns="0" rtlCol="0" anchor="ctr"/>
          <a:lstStyle/>
          <a:p>
            <a:pPr indent="0" marL="0">
              <a:buNone/>
            </a:pPr>
            <a:r>
              <a:rPr lang="en-US" sz="1600" b="1" dirty="0">
                <a:solidFill>
                  <a:srgbClr val="17171A"/>
                </a:solidFill>
                <a:latin typeface="Inter"/>
              </a:rPr>
              <a:t>Scalable implementation</a:t>
            </a:r>
            <a:endParaRPr lang="en-US" sz="1600" dirty="0"/>
          </a:p>
        </p:txBody>
      </p:sp>
      <p:sp>
        <p:nvSpPr>
          <p:cNvPr id="20" name="Text 18"/>
          <p:cNvSpPr/>
          <p:nvPr/>
        </p:nvSpPr>
        <p:spPr>
          <a:xfrm>
            <a:off x="7004304" y="4416552"/>
            <a:ext cx="4023360" cy="512064"/>
          </a:xfrm>
          <a:prstGeom prst="rect">
            <a:avLst/>
          </a:prstGeom>
          <a:noFill/>
          <a:ln/>
        </p:spPr>
        <p:txBody>
          <a:bodyPr wrap="square" lIns="0" tIns="0" rIns="0" bIns="0" rtlCol="0" anchor="ctr">
            <a:normAutofit/>
          </a:bodyPr>
          <a:lstStyle/>
          <a:p>
            <a:pPr indent="0" marL="0">
              <a:buNone/>
            </a:pPr>
            <a:r>
              <a:rPr lang="en-US" sz="1180" dirty="0">
                <a:solidFill>
                  <a:srgbClr val="64646B"/>
                </a:solidFill>
                <a:latin typeface="Inter"/>
              </a:rPr>
              <a:t>Design a framework that can grow beyond a single manual process.</a:t>
            </a:r>
            <a:endParaRPr lang="en-US" sz="1180" dirty="0"/>
          </a:p>
        </p:txBody>
      </p:sp>
      <p:sp>
        <p:nvSpPr>
          <p:cNvPr id="21" name="Text 19"/>
          <p:cNvSpPr/>
          <p:nvPr/>
        </p:nvSpPr>
        <p:spPr>
          <a:xfrm>
            <a:off x="1051560" y="5742432"/>
            <a:ext cx="9966960" cy="274320"/>
          </a:xfrm>
          <a:prstGeom prst="rect">
            <a:avLst/>
          </a:prstGeom>
          <a:noFill/>
          <a:ln/>
        </p:spPr>
        <p:txBody>
          <a:bodyPr wrap="square" lIns="0" tIns="0" rIns="0" bIns="0" rtlCol="0" anchor="t">
            <a:normAutofit/>
          </a:bodyPr>
          <a:lstStyle/>
          <a:p>
            <a:pPr algn="ctr" indent="0" marL="0">
              <a:buNone/>
            </a:pPr>
            <a:r>
              <a:rPr lang="en-US" sz="1300" b="1" dirty="0">
                <a:solidFill>
                  <a:srgbClr val="1600FF"/>
                </a:solidFill>
                <a:latin typeface="Inter" pitchFamily="34" charset="0"/>
                <a:ea typeface="Arial" pitchFamily="34" charset="-122"/>
                <a:cs typeface="Arial" pitchFamily="34" charset="-120"/>
              </a:rPr>
              <a:t>Responsible AI was treated as part of the strategy—not an afterthought.</a:t>
            </a:r>
            <a:endParaRPr lang="en-US" sz="130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777240" cy="502920"/>
          </a:xfrm>
          <a:prstGeom prst="rect">
            <a:avLst/>
          </a:prstGeom>
          <a:noFill/>
          <a:ln/>
        </p:spPr>
        <p:txBody>
          <a:bodyPr wrap="square" lIns="0" tIns="0" rIns="0" bIns="0" rtlCol="0" anchor="ctr"/>
          <a:lstStyle/>
          <a:p>
            <a:pPr indent="0" marL="0">
              <a:buNone/>
            </a:pPr>
            <a:r>
              <a:rPr lang="en-US" sz="2600" b="1" spc="50" kern="0" dirty="0">
                <a:solidFill>
                  <a:srgbClr val="1600FF"/>
                </a:solidFill>
                <a:latin typeface="Inter" pitchFamily="34" charset="0"/>
                <a:ea typeface="Arial Narrow" pitchFamily="34" charset="-122"/>
                <a:cs typeface="Arial Narrow" pitchFamily="34" charset="-120"/>
              </a:rPr>
              <a:t>08</a:t>
            </a:r>
            <a:endParaRPr lang="en-US" sz="2600" dirty="0"/>
          </a:p>
        </p:txBody>
      </p:sp>
      <p:sp>
        <p:nvSpPr>
          <p:cNvPr id="3" name="Text 1"/>
          <p:cNvSpPr/>
          <p:nvPr/>
        </p:nvSpPr>
        <p:spPr>
          <a:xfrm>
            <a:off x="1234440" y="713232"/>
            <a:ext cx="10241280" cy="658368"/>
          </a:xfrm>
          <a:prstGeom prst="rect">
            <a:avLst/>
          </a:prstGeom>
          <a:noFill/>
          <a:ln/>
        </p:spPr>
        <p:txBody>
          <a:bodyPr wrap="square" lIns="0" tIns="0" rIns="0" bIns="0" rtlCol="0" anchor="ctr">
            <a:normAutofit/>
          </a:bodyPr>
          <a:lstStyle/>
          <a:p>
            <a:pPr indent="0" marL="0">
              <a:buNone/>
            </a:pPr>
            <a:r>
              <a:rPr sz="2700" b="1">
                <a:solidFill>
                  <a:srgbClr val="17171A"/>
                </a:solidFill>
                <a:latin typeface="Inter"/>
              </a:rPr>
              <a:t>Skills Learned</a:t>
            </a:r>
            <a:endParaRPr lang="en-US" sz="3100" dirty="0"/>
          </a:p>
        </p:txBody>
      </p:sp>
      <p:sp>
        <p:nvSpPr>
          <p:cNvPr id="4" name="Text 2"/>
          <p:cNvSpPr/>
          <p:nvPr/>
        </p:nvSpPr>
        <p:spPr>
          <a:xfrm>
            <a:off x="1243584" y="1353312"/>
            <a:ext cx="8046720" cy="219456"/>
          </a:xfrm>
          <a:prstGeom prst="rect">
            <a:avLst/>
          </a:prstGeom>
          <a:noFill/>
          <a:ln/>
        </p:spPr>
        <p:txBody>
          <a:bodyPr wrap="square" lIns="0" tIns="0" rIns="0" bIns="0" rtlCol="0" anchor="ctr"/>
          <a:lstStyle/>
          <a:p>
            <a:pPr indent="0" marL="0">
              <a:buNone/>
            </a:pPr>
            <a:r>
              <a:rPr sz="1100" b="0">
                <a:solidFill>
                  <a:srgbClr val="5D6678"/>
                </a:solidFill>
                <a:latin typeface="Inter"/>
              </a:rPr>
              <a:t>SKILLS LISTED IN THE COMPLETION SUMMARY</a:t>
            </a:r>
            <a:endParaRPr lang="en-US" sz="850" dirty="0"/>
          </a:p>
        </p:txBody>
      </p:sp>
      <p:sp>
        <p:nvSpPr>
          <p:cNvPr id="5" name="Shape 3"/>
          <p:cNvSpPr/>
          <p:nvPr/>
        </p:nvSpPr>
        <p:spPr>
          <a:xfrm>
            <a:off x="603504" y="1847088"/>
            <a:ext cx="3419856" cy="3547872"/>
          </a:xfrm>
          <a:prstGeom prst="roundRect">
            <a:avLst>
              <a:gd name="adj" fmla="val 2139"/>
            </a:avLst>
          </a:prstGeom>
          <a:solidFill>
            <a:srgbClr val="FFFFFF"/>
          </a:solidFill>
          <a:ln w="10160">
            <a:solidFill>
              <a:srgbClr val="DADAE0"/>
            </a:solidFill>
            <a:prstDash val="solid"/>
          </a:ln>
          <a:effectLst>
            <a:outerShdw sx="100000" sy="100000" kx="0" ky="0" algn="bl" rotWithShape="0" blurRad="25400" dist="12700" dir="2700000">
              <a:srgbClr val="000000">
                <a:alpha val="12000"/>
              </a:srgbClr>
            </a:outerShdw>
          </a:effectLst>
        </p:spPr>
        <p:txBody>
          <a:bodyPr/>
          <a:p/>
        </p:txBody>
      </p:sp>
      <p:sp>
        <p:nvSpPr>
          <p:cNvPr id="6" name="Text 4"/>
          <p:cNvSpPr/>
          <p:nvPr/>
        </p:nvSpPr>
        <p:spPr>
          <a:xfrm>
            <a:off x="841248" y="2103120"/>
            <a:ext cx="2560320" cy="329184"/>
          </a:xfrm>
          <a:prstGeom prst="rect">
            <a:avLst/>
          </a:prstGeom>
          <a:noFill/>
          <a:ln/>
        </p:spPr>
        <p:txBody>
          <a:bodyPr wrap="square" lIns="0" tIns="0" rIns="0" bIns="0" rtlCol="0" anchor="ctr"/>
          <a:lstStyle/>
          <a:p>
            <a:pPr indent="0" marL="0">
              <a:buNone/>
            </a:pPr>
            <a:r>
              <a:rPr lang="en-US" sz="2200" b="1" dirty="0">
                <a:solidFill>
                  <a:srgbClr val="17171A"/>
                </a:solidFill>
                <a:latin typeface="Inter" pitchFamily="34" charset="0"/>
                <a:ea typeface="Arial Narrow" pitchFamily="34" charset="-122"/>
                <a:cs typeface="Arial Narrow" pitchFamily="34" charset="-120"/>
              </a:rPr>
              <a:t>Analytics</a:t>
            </a:r>
            <a:endParaRPr lang="en-US" sz="2200" dirty="0"/>
          </a:p>
        </p:txBody>
      </p:sp>
      <p:sp>
        <p:nvSpPr>
          <p:cNvPr id="7" name="Shape 5"/>
          <p:cNvSpPr/>
          <p:nvPr/>
        </p:nvSpPr>
        <p:spPr>
          <a:xfrm>
            <a:off x="841248" y="2779776"/>
            <a:ext cx="1329538" cy="274320"/>
          </a:xfrm>
          <a:prstGeom prst="roundRect">
            <a:avLst>
              <a:gd name="adj" fmla="val 43333"/>
            </a:avLst>
          </a:prstGeom>
          <a:solidFill>
            <a:srgbClr val="F8F8FA"/>
          </a:solidFill>
          <a:ln w="11430">
            <a:solidFill>
              <a:srgbClr val="1600FF"/>
            </a:solidFill>
            <a:prstDash val="solid"/>
          </a:ln>
        </p:spPr>
        <p:txBody>
          <a:bodyPr/>
          <a:p/>
        </p:txBody>
      </p:sp>
      <p:sp>
        <p:nvSpPr>
          <p:cNvPr id="8" name="Text 6"/>
          <p:cNvSpPr/>
          <p:nvPr/>
        </p:nvSpPr>
        <p:spPr>
          <a:xfrm>
            <a:off x="905256" y="2848356"/>
            <a:ext cx="1201522"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AI Analytics</a:t>
            </a:r>
            <a:endParaRPr lang="en-US" sz="800" dirty="0"/>
          </a:p>
        </p:txBody>
      </p:sp>
      <p:sp>
        <p:nvSpPr>
          <p:cNvPr id="9" name="Shape 7"/>
          <p:cNvSpPr/>
          <p:nvPr/>
        </p:nvSpPr>
        <p:spPr>
          <a:xfrm>
            <a:off x="841248" y="3255264"/>
            <a:ext cx="1822399" cy="274320"/>
          </a:xfrm>
          <a:prstGeom prst="roundRect">
            <a:avLst>
              <a:gd name="adj" fmla="val 43333"/>
            </a:avLst>
          </a:prstGeom>
          <a:solidFill>
            <a:srgbClr val="F8F8FA"/>
          </a:solidFill>
          <a:ln w="11430">
            <a:solidFill>
              <a:srgbClr val="1600FF"/>
            </a:solidFill>
            <a:prstDash val="solid"/>
          </a:ln>
        </p:spPr>
        <p:txBody>
          <a:bodyPr/>
          <a:p/>
        </p:txBody>
      </p:sp>
      <p:sp>
        <p:nvSpPr>
          <p:cNvPr id="10" name="Text 8"/>
          <p:cNvSpPr/>
          <p:nvPr/>
        </p:nvSpPr>
        <p:spPr>
          <a:xfrm>
            <a:off x="905256" y="3323844"/>
            <a:ext cx="1694383"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Data Interpretation</a:t>
            </a:r>
            <a:endParaRPr lang="en-US" sz="800" dirty="0"/>
          </a:p>
        </p:txBody>
      </p:sp>
      <p:sp>
        <p:nvSpPr>
          <p:cNvPr id="11" name="Shape 9"/>
          <p:cNvSpPr/>
          <p:nvPr/>
        </p:nvSpPr>
        <p:spPr>
          <a:xfrm>
            <a:off x="841248" y="3730752"/>
            <a:ext cx="2104034" cy="274320"/>
          </a:xfrm>
          <a:prstGeom prst="roundRect">
            <a:avLst>
              <a:gd name="adj" fmla="val 43333"/>
            </a:avLst>
          </a:prstGeom>
          <a:solidFill>
            <a:srgbClr val="F8F8FA"/>
          </a:solidFill>
          <a:ln w="11430">
            <a:solidFill>
              <a:srgbClr val="1600FF"/>
            </a:solidFill>
            <a:prstDash val="solid"/>
          </a:ln>
        </p:spPr>
        <p:txBody>
          <a:bodyPr/>
          <a:p/>
        </p:txBody>
      </p:sp>
      <p:sp>
        <p:nvSpPr>
          <p:cNvPr id="12" name="Text 10"/>
          <p:cNvSpPr/>
          <p:nvPr/>
        </p:nvSpPr>
        <p:spPr>
          <a:xfrm>
            <a:off x="905256" y="3799332"/>
            <a:ext cx="1976018"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Data Quality Management</a:t>
            </a:r>
            <a:endParaRPr lang="en-US" sz="800" dirty="0"/>
          </a:p>
        </p:txBody>
      </p:sp>
      <p:sp>
        <p:nvSpPr>
          <p:cNvPr id="13" name="Shape 11"/>
          <p:cNvSpPr/>
          <p:nvPr/>
        </p:nvSpPr>
        <p:spPr>
          <a:xfrm>
            <a:off x="841248" y="4206240"/>
            <a:ext cx="2244852" cy="274320"/>
          </a:xfrm>
          <a:prstGeom prst="roundRect">
            <a:avLst>
              <a:gd name="adj" fmla="val 43333"/>
            </a:avLst>
          </a:prstGeom>
          <a:solidFill>
            <a:srgbClr val="F8F8FA"/>
          </a:solidFill>
          <a:ln w="11430">
            <a:solidFill>
              <a:srgbClr val="1600FF"/>
            </a:solidFill>
            <a:prstDash val="solid"/>
          </a:ln>
        </p:spPr>
        <p:txBody>
          <a:bodyPr/>
          <a:p/>
        </p:txBody>
      </p:sp>
      <p:sp>
        <p:nvSpPr>
          <p:cNvPr id="14" name="Text 12"/>
          <p:cNvSpPr/>
          <p:nvPr/>
        </p:nvSpPr>
        <p:spPr>
          <a:xfrm>
            <a:off x="905256" y="4274820"/>
            <a:ext cx="2116836"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Exploratory Data Analysis</a:t>
            </a:r>
            <a:endParaRPr lang="en-US" sz="800" dirty="0"/>
          </a:p>
        </p:txBody>
      </p:sp>
      <p:sp>
        <p:nvSpPr>
          <p:cNvPr id="15" name="Shape 13"/>
          <p:cNvSpPr/>
          <p:nvPr/>
        </p:nvSpPr>
        <p:spPr>
          <a:xfrm>
            <a:off x="841248" y="4681728"/>
            <a:ext cx="1892808" cy="274320"/>
          </a:xfrm>
          <a:prstGeom prst="roundRect">
            <a:avLst>
              <a:gd name="adj" fmla="val 43333"/>
            </a:avLst>
          </a:prstGeom>
          <a:solidFill>
            <a:srgbClr val="F8F8FA"/>
          </a:solidFill>
          <a:ln w="11430">
            <a:solidFill>
              <a:srgbClr val="1600FF"/>
            </a:solidFill>
            <a:prstDash val="solid"/>
          </a:ln>
        </p:spPr>
        <p:txBody>
          <a:bodyPr/>
          <a:p/>
        </p:txBody>
      </p:sp>
      <p:sp>
        <p:nvSpPr>
          <p:cNvPr id="16" name="Text 14"/>
          <p:cNvSpPr/>
          <p:nvPr/>
        </p:nvSpPr>
        <p:spPr>
          <a:xfrm>
            <a:off x="905256" y="4750308"/>
            <a:ext cx="1764792"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Predictive Analytics</a:t>
            </a:r>
            <a:endParaRPr lang="en-US" sz="800" dirty="0"/>
          </a:p>
        </p:txBody>
      </p:sp>
      <p:sp>
        <p:nvSpPr>
          <p:cNvPr id="17" name="Shape 15"/>
          <p:cNvSpPr/>
          <p:nvPr/>
        </p:nvSpPr>
        <p:spPr>
          <a:xfrm>
            <a:off x="4334256" y="1847088"/>
            <a:ext cx="3419856" cy="3547872"/>
          </a:xfrm>
          <a:prstGeom prst="roundRect">
            <a:avLst>
              <a:gd name="adj" fmla="val 2139"/>
            </a:avLst>
          </a:prstGeom>
          <a:solidFill>
            <a:srgbClr val="FFFFFF"/>
          </a:solidFill>
          <a:ln w="10160">
            <a:solidFill>
              <a:srgbClr val="DADAE0"/>
            </a:solidFill>
            <a:prstDash val="solid"/>
          </a:ln>
          <a:effectLst>
            <a:outerShdw sx="100000" sy="100000" kx="0" ky="0" algn="bl" rotWithShape="0" blurRad="25400" dist="12700" dir="2700000">
              <a:srgbClr val="000000">
                <a:alpha val="12000"/>
              </a:srgbClr>
            </a:outerShdw>
          </a:effectLst>
        </p:spPr>
        <p:txBody>
          <a:bodyPr/>
          <a:p/>
        </p:txBody>
      </p:sp>
      <p:sp>
        <p:nvSpPr>
          <p:cNvPr id="18" name="Text 16"/>
          <p:cNvSpPr/>
          <p:nvPr/>
        </p:nvSpPr>
        <p:spPr>
          <a:xfrm>
            <a:off x="4572000" y="2103120"/>
            <a:ext cx="2560320" cy="329184"/>
          </a:xfrm>
          <a:prstGeom prst="rect">
            <a:avLst/>
          </a:prstGeom>
          <a:noFill/>
          <a:ln/>
        </p:spPr>
        <p:txBody>
          <a:bodyPr wrap="square" lIns="0" tIns="0" rIns="0" bIns="0" rtlCol="0" anchor="ctr"/>
          <a:lstStyle/>
          <a:p>
            <a:pPr indent="0" marL="0">
              <a:buNone/>
            </a:pPr>
            <a:r>
              <a:rPr sz="1500" b="1">
                <a:solidFill>
                  <a:srgbClr val="17171A"/>
                </a:solidFill>
                <a:latin typeface="Inter"/>
              </a:rPr>
              <a:t>Strategy &amp; Modeling</a:t>
            </a:r>
            <a:endParaRPr lang="en-US" sz="2200" dirty="0"/>
          </a:p>
        </p:txBody>
      </p:sp>
      <p:sp>
        <p:nvSpPr>
          <p:cNvPr id="19" name="Shape 17"/>
          <p:cNvSpPr/>
          <p:nvPr/>
        </p:nvSpPr>
        <p:spPr>
          <a:xfrm>
            <a:off x="4572000" y="2779776"/>
            <a:ext cx="1259129" cy="274320"/>
          </a:xfrm>
          <a:prstGeom prst="roundRect">
            <a:avLst>
              <a:gd name="adj" fmla="val 43333"/>
            </a:avLst>
          </a:prstGeom>
          <a:solidFill>
            <a:srgbClr val="F8F8FA"/>
          </a:solidFill>
          <a:ln w="11430">
            <a:solidFill>
              <a:srgbClr val="1600FF"/>
            </a:solidFill>
            <a:prstDash val="solid"/>
          </a:ln>
        </p:spPr>
        <p:txBody>
          <a:bodyPr/>
          <a:p/>
        </p:txBody>
      </p:sp>
      <p:sp>
        <p:nvSpPr>
          <p:cNvPr id="20" name="Text 18"/>
          <p:cNvSpPr/>
          <p:nvPr/>
        </p:nvSpPr>
        <p:spPr>
          <a:xfrm>
            <a:off x="4636008" y="2848356"/>
            <a:ext cx="1131113"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AI Strategy</a:t>
            </a:r>
            <a:endParaRPr lang="en-US" sz="800" dirty="0"/>
          </a:p>
        </p:txBody>
      </p:sp>
      <p:sp>
        <p:nvSpPr>
          <p:cNvPr id="21" name="Shape 19"/>
          <p:cNvSpPr/>
          <p:nvPr/>
        </p:nvSpPr>
        <p:spPr>
          <a:xfrm>
            <a:off x="4572000" y="3255264"/>
            <a:ext cx="1540764" cy="274320"/>
          </a:xfrm>
          <a:prstGeom prst="roundRect">
            <a:avLst>
              <a:gd name="adj" fmla="val 43333"/>
            </a:avLst>
          </a:prstGeom>
          <a:solidFill>
            <a:srgbClr val="F8F8FA"/>
          </a:solidFill>
          <a:ln w="11430">
            <a:solidFill>
              <a:srgbClr val="1600FF"/>
            </a:solidFill>
            <a:prstDash val="solid"/>
          </a:ln>
        </p:spPr>
        <p:txBody>
          <a:bodyPr/>
          <a:p/>
        </p:txBody>
      </p:sp>
      <p:sp>
        <p:nvSpPr>
          <p:cNvPr id="22" name="Text 20"/>
          <p:cNvSpPr/>
          <p:nvPr/>
        </p:nvSpPr>
        <p:spPr>
          <a:xfrm>
            <a:off x="4636008" y="3323844"/>
            <a:ext cx="1412748"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Model Selection</a:t>
            </a:r>
            <a:endParaRPr lang="en-US" sz="800" dirty="0"/>
          </a:p>
        </p:txBody>
      </p:sp>
      <p:sp>
        <p:nvSpPr>
          <p:cNvPr id="23" name="Shape 21"/>
          <p:cNvSpPr/>
          <p:nvPr/>
        </p:nvSpPr>
        <p:spPr>
          <a:xfrm>
            <a:off x="4572000" y="3730752"/>
            <a:ext cx="1611173" cy="274320"/>
          </a:xfrm>
          <a:prstGeom prst="roundRect">
            <a:avLst>
              <a:gd name="adj" fmla="val 43333"/>
            </a:avLst>
          </a:prstGeom>
          <a:solidFill>
            <a:srgbClr val="F8F8FA"/>
          </a:solidFill>
          <a:ln w="11430">
            <a:solidFill>
              <a:srgbClr val="1600FF"/>
            </a:solidFill>
            <a:prstDash val="solid"/>
          </a:ln>
        </p:spPr>
        <p:txBody>
          <a:bodyPr/>
          <a:p/>
        </p:txBody>
      </p:sp>
      <p:sp>
        <p:nvSpPr>
          <p:cNvPr id="24" name="Text 22"/>
          <p:cNvSpPr/>
          <p:nvPr/>
        </p:nvSpPr>
        <p:spPr>
          <a:xfrm>
            <a:off x="4636008" y="3799332"/>
            <a:ext cx="1483157"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Model Validation</a:t>
            </a:r>
            <a:endParaRPr lang="en-US" sz="800" dirty="0"/>
          </a:p>
        </p:txBody>
      </p:sp>
      <p:sp>
        <p:nvSpPr>
          <p:cNvPr id="25" name="Shape 23"/>
          <p:cNvSpPr/>
          <p:nvPr/>
        </p:nvSpPr>
        <p:spPr>
          <a:xfrm>
            <a:off x="4572000" y="4206240"/>
            <a:ext cx="1751990" cy="274320"/>
          </a:xfrm>
          <a:prstGeom prst="roundRect">
            <a:avLst>
              <a:gd name="adj" fmla="val 43333"/>
            </a:avLst>
          </a:prstGeom>
          <a:solidFill>
            <a:srgbClr val="F8F8FA"/>
          </a:solidFill>
          <a:ln w="11430">
            <a:solidFill>
              <a:srgbClr val="1600FF"/>
            </a:solidFill>
            <a:prstDash val="solid"/>
          </a:ln>
        </p:spPr>
        <p:txBody>
          <a:bodyPr/>
          <a:p/>
        </p:txBody>
      </p:sp>
      <p:sp>
        <p:nvSpPr>
          <p:cNvPr id="26" name="Text 24"/>
          <p:cNvSpPr/>
          <p:nvPr/>
        </p:nvSpPr>
        <p:spPr>
          <a:xfrm>
            <a:off x="4636008" y="4274820"/>
            <a:ext cx="1623974"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Process Automation</a:t>
            </a:r>
            <a:endParaRPr lang="en-US" sz="800" dirty="0"/>
          </a:p>
        </p:txBody>
      </p:sp>
      <p:sp>
        <p:nvSpPr>
          <p:cNvPr id="27" name="Shape 25"/>
          <p:cNvSpPr/>
          <p:nvPr/>
        </p:nvSpPr>
        <p:spPr>
          <a:xfrm>
            <a:off x="4572000" y="4681728"/>
            <a:ext cx="1751990" cy="274320"/>
          </a:xfrm>
          <a:prstGeom prst="roundRect">
            <a:avLst>
              <a:gd name="adj" fmla="val 43333"/>
            </a:avLst>
          </a:prstGeom>
          <a:solidFill>
            <a:srgbClr val="F8F8FA"/>
          </a:solidFill>
          <a:ln w="11430">
            <a:solidFill>
              <a:srgbClr val="1600FF"/>
            </a:solidFill>
            <a:prstDash val="solid"/>
          </a:ln>
        </p:spPr>
        <p:txBody>
          <a:bodyPr/>
          <a:p/>
        </p:txBody>
      </p:sp>
      <p:sp>
        <p:nvSpPr>
          <p:cNvPr id="28" name="Text 26"/>
          <p:cNvSpPr/>
          <p:nvPr/>
        </p:nvSpPr>
        <p:spPr>
          <a:xfrm>
            <a:off x="4636008" y="4750308"/>
            <a:ext cx="1623974"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Strategic Thinking</a:t>
            </a:r>
            <a:endParaRPr lang="en-US" sz="800" dirty="0"/>
          </a:p>
        </p:txBody>
      </p:sp>
      <p:sp>
        <p:nvSpPr>
          <p:cNvPr id="29" name="Shape 27"/>
          <p:cNvSpPr/>
          <p:nvPr/>
        </p:nvSpPr>
        <p:spPr>
          <a:xfrm>
            <a:off x="8065008" y="1847088"/>
            <a:ext cx="3419856" cy="3547872"/>
          </a:xfrm>
          <a:prstGeom prst="roundRect">
            <a:avLst>
              <a:gd name="adj" fmla="val 2139"/>
            </a:avLst>
          </a:prstGeom>
          <a:solidFill>
            <a:srgbClr val="FFFFFF"/>
          </a:solidFill>
          <a:ln w="10160">
            <a:solidFill>
              <a:srgbClr val="DADAE0"/>
            </a:solidFill>
            <a:prstDash val="solid"/>
          </a:ln>
          <a:effectLst>
            <a:outerShdw sx="100000" sy="100000" kx="0" ky="0" algn="bl" rotWithShape="0" blurRad="25400" dist="12700" dir="2700000">
              <a:srgbClr val="000000">
                <a:alpha val="12000"/>
              </a:srgbClr>
            </a:outerShdw>
          </a:effectLst>
        </p:spPr>
        <p:txBody>
          <a:bodyPr/>
          <a:p/>
        </p:txBody>
      </p:sp>
      <p:sp>
        <p:nvSpPr>
          <p:cNvPr id="30" name="Text 28"/>
          <p:cNvSpPr/>
          <p:nvPr/>
        </p:nvSpPr>
        <p:spPr>
          <a:xfrm>
            <a:off x="8302752" y="2103120"/>
            <a:ext cx="2560320" cy="329184"/>
          </a:xfrm>
          <a:prstGeom prst="rect">
            <a:avLst/>
          </a:prstGeom>
          <a:noFill/>
          <a:ln/>
        </p:spPr>
        <p:txBody>
          <a:bodyPr wrap="square" lIns="0" tIns="0" rIns="0" bIns="0" rtlCol="0" anchor="ctr"/>
          <a:lstStyle/>
          <a:p>
            <a:pPr indent="0" marL="0">
              <a:buNone/>
            </a:pPr>
            <a:r>
              <a:rPr lang="en-US" sz="2200" b="1" dirty="0">
                <a:solidFill>
                  <a:srgbClr val="17171A"/>
                </a:solidFill>
                <a:latin typeface="Inter" pitchFamily="34" charset="0"/>
                <a:ea typeface="Arial Narrow" pitchFamily="34" charset="-122"/>
                <a:cs typeface="Arial Narrow" pitchFamily="34" charset="-120"/>
              </a:rPr>
              <a:t>Business &amp; Governance</a:t>
            </a:r>
            <a:endParaRPr lang="en-US" sz="2200" dirty="0"/>
          </a:p>
        </p:txBody>
      </p:sp>
      <p:sp>
        <p:nvSpPr>
          <p:cNvPr id="31" name="Shape 29"/>
          <p:cNvSpPr/>
          <p:nvPr/>
        </p:nvSpPr>
        <p:spPr>
          <a:xfrm>
            <a:off x="8302752" y="2779776"/>
            <a:ext cx="1892808" cy="274320"/>
          </a:xfrm>
          <a:prstGeom prst="roundRect">
            <a:avLst>
              <a:gd name="adj" fmla="val 43333"/>
            </a:avLst>
          </a:prstGeom>
          <a:solidFill>
            <a:srgbClr val="F8F8FA"/>
          </a:solidFill>
          <a:ln w="11430">
            <a:solidFill>
              <a:srgbClr val="1600FF"/>
            </a:solidFill>
            <a:prstDash val="solid"/>
          </a:ln>
        </p:spPr>
        <p:txBody>
          <a:bodyPr/>
          <a:p/>
        </p:txBody>
      </p:sp>
      <p:sp>
        <p:nvSpPr>
          <p:cNvPr id="32" name="Text 30"/>
          <p:cNvSpPr/>
          <p:nvPr/>
        </p:nvSpPr>
        <p:spPr>
          <a:xfrm>
            <a:off x="8366760" y="2848356"/>
            <a:ext cx="1764792"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Analytical Reporting</a:t>
            </a:r>
            <a:endParaRPr lang="en-US" sz="800" dirty="0"/>
          </a:p>
        </p:txBody>
      </p:sp>
      <p:sp>
        <p:nvSpPr>
          <p:cNvPr id="33" name="Shape 31"/>
          <p:cNvSpPr/>
          <p:nvPr/>
        </p:nvSpPr>
        <p:spPr>
          <a:xfrm>
            <a:off x="8302752" y="3255264"/>
            <a:ext cx="2033626" cy="274320"/>
          </a:xfrm>
          <a:prstGeom prst="roundRect">
            <a:avLst>
              <a:gd name="adj" fmla="val 43333"/>
            </a:avLst>
          </a:prstGeom>
          <a:solidFill>
            <a:srgbClr val="F8F8FA"/>
          </a:solidFill>
          <a:ln w="11430">
            <a:solidFill>
              <a:srgbClr val="1600FF"/>
            </a:solidFill>
            <a:prstDash val="solid"/>
          </a:ln>
        </p:spPr>
        <p:txBody>
          <a:bodyPr/>
          <a:p/>
        </p:txBody>
      </p:sp>
      <p:sp>
        <p:nvSpPr>
          <p:cNvPr id="34" name="Text 32"/>
          <p:cNvSpPr/>
          <p:nvPr/>
        </p:nvSpPr>
        <p:spPr>
          <a:xfrm>
            <a:off x="8366760" y="3323844"/>
            <a:ext cx="1905610"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Business Communication</a:t>
            </a:r>
            <a:endParaRPr lang="en-US" sz="800" dirty="0"/>
          </a:p>
        </p:txBody>
      </p:sp>
      <p:sp>
        <p:nvSpPr>
          <p:cNvPr id="35" name="Shape 33"/>
          <p:cNvSpPr/>
          <p:nvPr/>
        </p:nvSpPr>
        <p:spPr>
          <a:xfrm>
            <a:off x="8302752" y="3730752"/>
            <a:ext cx="1540764" cy="274320"/>
          </a:xfrm>
          <a:prstGeom prst="roundRect">
            <a:avLst>
              <a:gd name="adj" fmla="val 43333"/>
            </a:avLst>
          </a:prstGeom>
          <a:solidFill>
            <a:srgbClr val="F8F8FA"/>
          </a:solidFill>
          <a:ln w="11430">
            <a:solidFill>
              <a:srgbClr val="1600FF"/>
            </a:solidFill>
            <a:prstDash val="solid"/>
          </a:ln>
        </p:spPr>
        <p:txBody>
          <a:bodyPr/>
          <a:p/>
        </p:txBody>
      </p:sp>
      <p:sp>
        <p:nvSpPr>
          <p:cNvPr id="36" name="Text 34"/>
          <p:cNvSpPr/>
          <p:nvPr/>
        </p:nvSpPr>
        <p:spPr>
          <a:xfrm>
            <a:off x="8366760" y="3799332"/>
            <a:ext cx="1412748"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Decision Making</a:t>
            </a:r>
            <a:endParaRPr lang="en-US" sz="800" dirty="0"/>
          </a:p>
        </p:txBody>
      </p:sp>
      <p:sp>
        <p:nvSpPr>
          <p:cNvPr id="37" name="Shape 35"/>
          <p:cNvSpPr/>
          <p:nvPr/>
        </p:nvSpPr>
        <p:spPr>
          <a:xfrm>
            <a:off x="8302752" y="4206240"/>
            <a:ext cx="1681582" cy="274320"/>
          </a:xfrm>
          <a:prstGeom prst="roundRect">
            <a:avLst>
              <a:gd name="adj" fmla="val 43333"/>
            </a:avLst>
          </a:prstGeom>
          <a:solidFill>
            <a:srgbClr val="F8F8FA"/>
          </a:solidFill>
          <a:ln w="11430">
            <a:solidFill>
              <a:srgbClr val="1600FF"/>
            </a:solidFill>
            <a:prstDash val="solid"/>
          </a:ln>
        </p:spPr>
        <p:txBody>
          <a:bodyPr/>
          <a:p/>
        </p:txBody>
      </p:sp>
      <p:sp>
        <p:nvSpPr>
          <p:cNvPr id="38" name="Text 36"/>
          <p:cNvSpPr/>
          <p:nvPr/>
        </p:nvSpPr>
        <p:spPr>
          <a:xfrm>
            <a:off x="8366760" y="4274820"/>
            <a:ext cx="1553566"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Ethical Reasoning</a:t>
            </a:r>
            <a:endParaRPr lang="en-US" sz="800" dirty="0"/>
          </a:p>
        </p:txBody>
      </p:sp>
      <p:sp>
        <p:nvSpPr>
          <p:cNvPr id="39" name="Shape 37"/>
          <p:cNvSpPr/>
          <p:nvPr/>
        </p:nvSpPr>
        <p:spPr>
          <a:xfrm>
            <a:off x="8302752" y="4681728"/>
            <a:ext cx="1963217" cy="274320"/>
          </a:xfrm>
          <a:prstGeom prst="roundRect">
            <a:avLst>
              <a:gd name="adj" fmla="val 43333"/>
            </a:avLst>
          </a:prstGeom>
          <a:solidFill>
            <a:srgbClr val="F8F8FA"/>
          </a:solidFill>
          <a:ln w="11430">
            <a:solidFill>
              <a:srgbClr val="1600FF"/>
            </a:solidFill>
            <a:prstDash val="solid"/>
          </a:ln>
        </p:spPr>
        <p:txBody>
          <a:bodyPr/>
          <a:p/>
        </p:txBody>
      </p:sp>
      <p:sp>
        <p:nvSpPr>
          <p:cNvPr id="40" name="Text 38"/>
          <p:cNvSpPr/>
          <p:nvPr/>
        </p:nvSpPr>
        <p:spPr>
          <a:xfrm>
            <a:off x="8366760" y="4750308"/>
            <a:ext cx="1835201"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Regulatory Compliance</a:t>
            </a:r>
            <a:endParaRPr lang="en-US" sz="800" dirty="0"/>
          </a:p>
        </p:txBody>
      </p:sp>
      <p:sp>
        <p:nvSpPr>
          <p:cNvPr id="41" name="Text 39"/>
          <p:cNvSpPr/>
          <p:nvPr/>
        </p:nvSpPr>
        <p:spPr>
          <a:xfrm>
            <a:off x="1143000" y="5733288"/>
            <a:ext cx="9875520" cy="310896"/>
          </a:xfrm>
          <a:prstGeom prst="rect">
            <a:avLst/>
          </a:prstGeom>
          <a:noFill/>
          <a:ln/>
        </p:spPr>
        <p:txBody>
          <a:bodyPr wrap="square" lIns="0" tIns="0" rIns="0" bIns="0" rtlCol="0" anchor="t">
            <a:normAutofit/>
          </a:bodyPr>
          <a:lstStyle/>
          <a:p>
            <a:pPr algn="ctr" indent="0" marL="0">
              <a:buNone/>
            </a:pPr>
            <a:r>
              <a:rPr sz="900">
                <a:solidFill>
                  <a:srgbClr val="5D6678"/>
                </a:solidFill>
                <a:latin typeface="Inter"/>
              </a:rPr>
              <a:t>These 15 skills are the skills listed on the Tata iQ job simulation completion page.</a:t>
            </a:r>
            <a:endParaRPr lang="en-US" sz="127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777240" cy="502920"/>
          </a:xfrm>
          <a:prstGeom prst="rect">
            <a:avLst/>
          </a:prstGeom>
          <a:noFill/>
          <a:ln/>
        </p:spPr>
        <p:txBody>
          <a:bodyPr wrap="square" lIns="0" tIns="0" rIns="0" bIns="0" rtlCol="0" anchor="ctr"/>
          <a:lstStyle/>
          <a:p>
            <a:pPr indent="0" marL="0">
              <a:buNone/>
            </a:pPr>
            <a:r>
              <a:rPr lang="en-US" sz="2600" b="1" spc="50" kern="0" dirty="0">
                <a:solidFill>
                  <a:srgbClr val="1600FF"/>
                </a:solidFill>
                <a:latin typeface="Inter" pitchFamily="34" charset="0"/>
                <a:ea typeface="Arial Narrow" pitchFamily="34" charset="-122"/>
                <a:cs typeface="Arial Narrow" pitchFamily="34" charset="-120"/>
              </a:rPr>
              <a:t>09</a:t>
            </a:r>
            <a:endParaRPr lang="en-US" sz="2600" dirty="0"/>
          </a:p>
        </p:txBody>
      </p:sp>
      <p:sp>
        <p:nvSpPr>
          <p:cNvPr id="3" name="Text 1"/>
          <p:cNvSpPr/>
          <p:nvPr/>
        </p:nvSpPr>
        <p:spPr>
          <a:xfrm>
            <a:off x="1234440" y="713232"/>
            <a:ext cx="10241280" cy="658368"/>
          </a:xfrm>
          <a:prstGeom prst="rect">
            <a:avLst/>
          </a:prstGeom>
          <a:noFill/>
          <a:ln/>
        </p:spPr>
        <p:txBody>
          <a:bodyPr wrap="square" lIns="0" tIns="0" rIns="0" bIns="0" rtlCol="0" anchor="ctr">
            <a:normAutofit/>
          </a:bodyPr>
          <a:lstStyle/>
          <a:p>
            <a:pPr indent="0" marL="0">
              <a:buNone/>
            </a:pPr>
            <a:r>
              <a:rPr lang="en-US" sz="3100" b="1" dirty="0">
                <a:solidFill>
                  <a:srgbClr val="17171A"/>
                </a:solidFill>
                <a:latin typeface="Inter" pitchFamily="34" charset="0"/>
                <a:ea typeface="Arial Narrow" pitchFamily="34" charset="-122"/>
                <a:cs typeface="Arial Narrow" pitchFamily="34" charset="-120"/>
              </a:rPr>
              <a:t>Professional Communication</a:t>
            </a:r>
            <a:endParaRPr lang="en-US" sz="3100" dirty="0"/>
          </a:p>
        </p:txBody>
      </p:sp>
      <p:sp>
        <p:nvSpPr>
          <p:cNvPr id="4" name="Text 2"/>
          <p:cNvSpPr/>
          <p:nvPr/>
        </p:nvSpPr>
        <p:spPr>
          <a:xfrm>
            <a:off x="1243584" y="1353312"/>
            <a:ext cx="8046720" cy="219456"/>
          </a:xfrm>
          <a:prstGeom prst="rect">
            <a:avLst/>
          </a:prstGeom>
          <a:noFill/>
          <a:ln/>
        </p:spPr>
        <p:txBody>
          <a:bodyPr wrap="square" lIns="0" tIns="0" rIns="0" bIns="0" rtlCol="0" anchor="ctr"/>
          <a:lstStyle/>
          <a:p>
            <a:pPr indent="0" marL="0">
              <a:buNone/>
            </a:pPr>
            <a:r>
              <a:rPr lang="en-US" sz="850" b="1" spc="140" kern="0" dirty="0">
                <a:solidFill>
                  <a:srgbClr val="1600FF"/>
                </a:solidFill>
                <a:latin typeface="Inter"/>
              </a:rPr>
              <a:t>EXPLAINING THE WORK CLEARLY</a:t>
            </a:r>
            <a:endParaRPr lang="en-US" sz="850" dirty="0"/>
          </a:p>
        </p:txBody>
      </p:sp>
      <p:sp>
        <p:nvSpPr>
          <p:cNvPr id="5" name="Shape 3"/>
          <p:cNvSpPr/>
          <p:nvPr/>
        </p:nvSpPr>
        <p:spPr>
          <a:xfrm>
            <a:off x="603504" y="1874520"/>
            <a:ext cx="5532120" cy="3767328"/>
          </a:xfrm>
          <a:prstGeom prst="roundRect">
            <a:avLst>
              <a:gd name="adj" fmla="val 1942"/>
            </a:avLst>
          </a:prstGeom>
          <a:solidFill>
            <a:srgbClr val="FFFFFF"/>
          </a:solidFill>
          <a:ln w="10160">
            <a:solidFill>
              <a:srgbClr val="DADAE0"/>
            </a:solidFill>
            <a:prstDash val="solid"/>
          </a:ln>
          <a:effectLst>
            <a:outerShdw sx="100000" sy="100000" kx="0" ky="0" algn="bl" rotWithShape="0" blurRad="25400" dist="12700" dir="2700000">
              <a:srgbClr val="000000">
                <a:alpha val="12000"/>
              </a:srgbClr>
            </a:outerShdw>
          </a:effectLst>
        </p:spPr>
        <p:txBody>
          <a:bodyPr/>
          <a:p/>
        </p:txBody>
      </p:sp>
      <p:sp>
        <p:nvSpPr>
          <p:cNvPr id="6" name="Text 4"/>
          <p:cNvSpPr/>
          <p:nvPr/>
        </p:nvSpPr>
        <p:spPr>
          <a:xfrm>
            <a:off x="896112" y="2157984"/>
            <a:ext cx="4389120" cy="310896"/>
          </a:xfrm>
          <a:prstGeom prst="rect">
            <a:avLst/>
          </a:prstGeom>
          <a:noFill/>
          <a:ln/>
        </p:spPr>
        <p:txBody>
          <a:bodyPr wrap="square" lIns="0" tIns="0" rIns="0" bIns="0" rtlCol="0" anchor="ctr"/>
          <a:lstStyle/>
          <a:p>
            <a:pPr indent="0" marL="0">
              <a:buNone/>
            </a:pPr>
            <a:r>
              <a:rPr lang="en-US" sz="2300" b="1" dirty="0">
                <a:solidFill>
                  <a:srgbClr val="17171A"/>
                </a:solidFill>
                <a:latin typeface="Inter" pitchFamily="34" charset="0"/>
                <a:ea typeface="Arial Narrow" pitchFamily="34" charset="-122"/>
                <a:cs typeface="Arial Narrow" pitchFamily="34" charset="-120"/>
              </a:rPr>
              <a:t>What the experience added</a:t>
            </a:r>
            <a:endParaRPr lang="en-US" sz="2300" dirty="0"/>
          </a:p>
        </p:txBody>
      </p:sp>
      <p:sp>
        <p:nvSpPr>
          <p:cNvPr id="7" name="Text 5"/>
          <p:cNvSpPr/>
          <p:nvPr/>
        </p:nvSpPr>
        <p:spPr>
          <a:xfrm>
            <a:off x="896112" y="2761488"/>
            <a:ext cx="4572000" cy="1572768"/>
          </a:xfrm>
          <a:prstGeom prst="rect">
            <a:avLst/>
          </a:prstGeom>
          <a:noFill/>
          <a:ln/>
        </p:spPr>
        <p:txBody>
          <a:bodyPr wrap="square" lIns="0" tIns="0" rIns="0" bIns="0" rtlCol="0" anchor="t">
            <a:normAutofit/>
          </a:bodyPr>
          <a:lstStyle/>
          <a:p>
            <a:pPr marL="177800" indent="-177800">
              <a:buSzPct val="100000"/>
              <a:buChar char="•"/>
            </a:pPr>
            <a:r>
              <a:rPr lang="en-US" sz="1470" dirty="0">
                <a:solidFill>
                  <a:srgbClr val="64646B"/>
                </a:solidFill>
                <a:latin typeface="Inter" pitchFamily="34" charset="0"/>
                <a:ea typeface="Arial" pitchFamily="34" charset="-122"/>
                <a:cs typeface="Arial" pitchFamily="34" charset="-120"/>
              </a:rPr>
              <a:t>Practice presenting analytical work as a business problem-solving story</a:t>
            </a:r>
            <a:endParaRPr lang="en-US" sz="1470" dirty="0"/>
          </a:p>
          <a:p>
            <a:pPr marL="177800" indent="-177800">
              <a:buSzPct val="100000"/>
              <a:buChar char="•"/>
            </a:pPr>
            <a:r>
              <a:rPr lang="en-US" sz="1470" dirty="0">
                <a:solidFill>
                  <a:srgbClr val="64646B"/>
                </a:solidFill>
                <a:latin typeface="Inter" pitchFamily="34" charset="0"/>
                <a:ea typeface="Arial" pitchFamily="34" charset="-122"/>
                <a:cs typeface="Arial" pitchFamily="34" charset="-120"/>
              </a:rPr>
              <a:t>Build confidence in discussing GenAI tools and responsible AI strategy</a:t>
            </a:r>
            <a:endParaRPr lang="en-US" sz="1470" dirty="0"/>
          </a:p>
          <a:p>
            <a:pPr marL="177800" indent="-177800">
              <a:buSzPct val="100000"/>
              <a:buChar char="•"/>
            </a:pPr>
            <a:r>
              <a:rPr lang="en-US" sz="1470" dirty="0">
                <a:solidFill>
                  <a:srgbClr val="64646B"/>
                </a:solidFill>
                <a:latin typeface="Inter" pitchFamily="34" charset="0"/>
                <a:ea typeface="Arial" pitchFamily="34" charset="-122"/>
                <a:cs typeface="Arial" pitchFamily="34" charset="-120"/>
              </a:rPr>
              <a:t>Connect data interpretation with decisions and strategic action</a:t>
            </a:r>
            <a:endParaRPr lang="en-US" sz="1470" dirty="0"/>
          </a:p>
        </p:txBody>
      </p:sp>
      <p:sp>
        <p:nvSpPr>
          <p:cNvPr id="8" name="Shape 6"/>
          <p:cNvSpPr/>
          <p:nvPr/>
        </p:nvSpPr>
        <p:spPr>
          <a:xfrm>
            <a:off x="896112" y="4818888"/>
            <a:ext cx="1874520" cy="274320"/>
          </a:xfrm>
          <a:prstGeom prst="roundRect">
            <a:avLst>
              <a:gd name="adj" fmla="val 43333"/>
            </a:avLst>
          </a:prstGeom>
          <a:solidFill>
            <a:srgbClr val="F2F2F5"/>
          </a:solidFill>
          <a:ln w="11430">
            <a:solidFill>
              <a:srgbClr val="1600FF"/>
            </a:solidFill>
            <a:prstDash val="solid"/>
          </a:ln>
        </p:spPr>
        <p:txBody>
          <a:bodyPr/>
          <a:p/>
        </p:txBody>
      </p:sp>
      <p:sp>
        <p:nvSpPr>
          <p:cNvPr id="9" name="Text 7"/>
          <p:cNvSpPr/>
          <p:nvPr/>
        </p:nvSpPr>
        <p:spPr>
          <a:xfrm>
            <a:off x="960120" y="4887468"/>
            <a:ext cx="1746504"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BUSINESS COMMUNICATION</a:t>
            </a:r>
            <a:endParaRPr lang="en-US" sz="800" dirty="0"/>
          </a:p>
        </p:txBody>
      </p:sp>
      <p:sp>
        <p:nvSpPr>
          <p:cNvPr id="10" name="Shape 8"/>
          <p:cNvSpPr/>
          <p:nvPr/>
        </p:nvSpPr>
        <p:spPr>
          <a:xfrm>
            <a:off x="2926080" y="4818888"/>
            <a:ext cx="1664208" cy="274320"/>
          </a:xfrm>
          <a:prstGeom prst="roundRect">
            <a:avLst>
              <a:gd name="adj" fmla="val 43333"/>
            </a:avLst>
          </a:prstGeom>
          <a:solidFill>
            <a:srgbClr val="F2F2F5"/>
          </a:solidFill>
          <a:ln w="11430">
            <a:solidFill>
              <a:srgbClr val="1600FF"/>
            </a:solidFill>
            <a:prstDash val="solid"/>
          </a:ln>
        </p:spPr>
        <p:txBody>
          <a:bodyPr/>
          <a:p/>
        </p:txBody>
      </p:sp>
      <p:sp>
        <p:nvSpPr>
          <p:cNvPr id="11" name="Text 9"/>
          <p:cNvSpPr/>
          <p:nvPr/>
        </p:nvSpPr>
        <p:spPr>
          <a:xfrm>
            <a:off x="2990088" y="4887468"/>
            <a:ext cx="1536192"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ANALYTICAL REPORTING</a:t>
            </a:r>
            <a:endParaRPr lang="en-US" sz="800" dirty="0"/>
          </a:p>
        </p:txBody>
      </p:sp>
      <p:sp>
        <p:nvSpPr>
          <p:cNvPr id="12" name="Shape 10"/>
          <p:cNvSpPr/>
          <p:nvPr/>
        </p:nvSpPr>
        <p:spPr>
          <a:xfrm>
            <a:off x="6382512" y="1874520"/>
            <a:ext cx="5193792" cy="3767328"/>
          </a:xfrm>
          <a:prstGeom prst="roundRect">
            <a:avLst>
              <a:gd name="adj" fmla="val 1942"/>
            </a:avLst>
          </a:prstGeom>
          <a:solidFill>
            <a:srgbClr val="F9F9FC"/>
          </a:solidFill>
          <a:ln w="10160">
            <a:solidFill>
              <a:srgbClr val="DADAE0"/>
            </a:solidFill>
            <a:prstDash val="solid"/>
          </a:ln>
        </p:spPr>
        <p:txBody>
          <a:bodyPr/>
          <a:p/>
        </p:txBody>
      </p:sp>
      <p:sp>
        <p:nvSpPr>
          <p:cNvPr id="13" name="Text 11"/>
          <p:cNvSpPr/>
          <p:nvPr/>
        </p:nvSpPr>
        <p:spPr>
          <a:xfrm>
            <a:off x="6693408" y="2157984"/>
            <a:ext cx="3840480" cy="310896"/>
          </a:xfrm>
          <a:prstGeom prst="rect">
            <a:avLst/>
          </a:prstGeom>
          <a:noFill/>
          <a:ln/>
        </p:spPr>
        <p:txBody>
          <a:bodyPr wrap="square" lIns="0" tIns="0" rIns="0" bIns="0" rtlCol="0" anchor="ctr"/>
          <a:lstStyle/>
          <a:p>
            <a:pPr indent="0" marL="0">
              <a:buNone/>
            </a:pPr>
            <a:r>
              <a:rPr lang="en-US" sz="2300" b="1" dirty="0">
                <a:solidFill>
                  <a:srgbClr val="17171A"/>
                </a:solidFill>
                <a:latin typeface="Inter" pitchFamily="34" charset="0"/>
                <a:ea typeface="Arial Narrow" pitchFamily="34" charset="-122"/>
                <a:cs typeface="Arial Narrow" pitchFamily="34" charset="-120"/>
              </a:rPr>
              <a:t>Interview-ready explanation</a:t>
            </a:r>
            <a:endParaRPr lang="en-US" sz="2300" dirty="0"/>
          </a:p>
        </p:txBody>
      </p:sp>
      <p:sp>
        <p:nvSpPr>
          <p:cNvPr id="14" name="Text 12"/>
          <p:cNvSpPr/>
          <p:nvPr/>
        </p:nvSpPr>
        <p:spPr>
          <a:xfrm>
            <a:off x="6693408" y="2779776"/>
            <a:ext cx="4443984" cy="1554480"/>
          </a:xfrm>
          <a:prstGeom prst="rect">
            <a:avLst/>
          </a:prstGeom>
          <a:noFill/>
          <a:ln/>
        </p:spPr>
        <p:txBody>
          <a:bodyPr wrap="square" lIns="0" tIns="0" rIns="0" bIns="0" rtlCol="0" anchor="ctr">
            <a:normAutofit/>
          </a:bodyPr>
          <a:lstStyle/>
          <a:p>
            <a:pPr indent="0" marL="0">
              <a:buNone/>
            </a:pPr>
            <a:r>
              <a:rPr lang="en-US" sz="1340" i="1" dirty="0">
                <a:solidFill>
                  <a:srgbClr val="64646B"/>
                </a:solidFill>
                <a:latin typeface="Inter"/>
              </a:rPr>
              <a:t>“I worked on a GenAI-powered data analytics simulation for Tata iQ, where I explored data quality and risk indicators, structured a predictive modeling approach, and translated the findings into an AI-driven collections strategy.”</a:t>
            </a:r>
            <a:endParaRPr lang="en-US" sz="1340" dirty="0"/>
          </a:p>
        </p:txBody>
      </p:sp>
      <p:sp>
        <p:nvSpPr>
          <p:cNvPr id="15" name="Text 13"/>
          <p:cNvSpPr/>
          <p:nvPr/>
        </p:nvSpPr>
        <p:spPr>
          <a:xfrm>
            <a:off x="6693408" y="4626864"/>
            <a:ext cx="4352544" cy="502920"/>
          </a:xfrm>
          <a:prstGeom prst="rect">
            <a:avLst/>
          </a:prstGeom>
          <a:noFill/>
          <a:ln/>
        </p:spPr>
        <p:txBody>
          <a:bodyPr wrap="square" lIns="0" tIns="0" rIns="0" bIns="0" rtlCol="0" anchor="ctr">
            <a:normAutofit/>
          </a:bodyPr>
          <a:lstStyle/>
          <a:p>
            <a:pPr indent="0" marL="0">
              <a:buNone/>
            </a:pPr>
            <a:r>
              <a:rPr lang="en-US" sz="1140" b="1" dirty="0">
                <a:solidFill>
                  <a:srgbClr val="1600FF"/>
                </a:solidFill>
                <a:latin typeface="Inter"/>
              </a:rPr>
              <a:t>This keeps the explanation focused on what was actually completed in the simulation.</a:t>
            </a:r>
            <a:endParaRPr lang="en-US" sz="114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777240" cy="502920"/>
          </a:xfrm>
          <a:prstGeom prst="rect">
            <a:avLst/>
          </a:prstGeom>
          <a:noFill/>
          <a:ln/>
        </p:spPr>
        <p:txBody>
          <a:bodyPr wrap="square" lIns="0" tIns="0" rIns="0" bIns="0" rtlCol="0" anchor="ctr"/>
          <a:lstStyle/>
          <a:p>
            <a:pPr indent="0" marL="0">
              <a:buNone/>
            </a:pPr>
            <a:r>
              <a:rPr lang="en-US" sz="2600" b="1" spc="50" kern="0" dirty="0">
                <a:solidFill>
                  <a:srgbClr val="1600FF"/>
                </a:solidFill>
                <a:latin typeface="Inter" pitchFamily="34" charset="0"/>
                <a:ea typeface="Arial Narrow" pitchFamily="34" charset="-122"/>
                <a:cs typeface="Arial Narrow" pitchFamily="34" charset="-120"/>
              </a:rPr>
              <a:t>10</a:t>
            </a:r>
            <a:endParaRPr lang="en-US" sz="2600" dirty="0"/>
          </a:p>
        </p:txBody>
      </p:sp>
      <p:sp>
        <p:nvSpPr>
          <p:cNvPr id="3" name="Text 1"/>
          <p:cNvSpPr/>
          <p:nvPr/>
        </p:nvSpPr>
        <p:spPr>
          <a:xfrm>
            <a:off x="1234440" y="713232"/>
            <a:ext cx="10241280" cy="658368"/>
          </a:xfrm>
          <a:prstGeom prst="rect">
            <a:avLst/>
          </a:prstGeom>
          <a:noFill/>
          <a:ln/>
        </p:spPr>
        <p:txBody>
          <a:bodyPr wrap="square" lIns="0" tIns="0" rIns="0" bIns="0" rtlCol="0" anchor="ctr">
            <a:normAutofit/>
          </a:bodyPr>
          <a:lstStyle/>
          <a:p>
            <a:pPr indent="0" marL="0">
              <a:buNone/>
            </a:pPr>
            <a:r>
              <a:rPr lang="en-US" sz="3100" b="1" dirty="0">
                <a:solidFill>
                  <a:srgbClr val="17171A"/>
                </a:solidFill>
                <a:latin typeface="Inter" pitchFamily="34" charset="0"/>
                <a:ea typeface="Arial Narrow" pitchFamily="34" charset="-122"/>
                <a:cs typeface="Arial Narrow" pitchFamily="34" charset="-120"/>
              </a:rPr>
              <a:t>Overall Experience</a:t>
            </a:r>
            <a:endParaRPr lang="en-US" sz="3100" dirty="0"/>
          </a:p>
        </p:txBody>
      </p:sp>
      <p:sp>
        <p:nvSpPr>
          <p:cNvPr id="4" name="Text 2"/>
          <p:cNvSpPr/>
          <p:nvPr/>
        </p:nvSpPr>
        <p:spPr>
          <a:xfrm>
            <a:off x="1243584" y="1353312"/>
            <a:ext cx="8046720" cy="219456"/>
          </a:xfrm>
          <a:prstGeom prst="rect">
            <a:avLst/>
          </a:prstGeom>
          <a:noFill/>
          <a:ln/>
        </p:spPr>
        <p:txBody>
          <a:bodyPr wrap="square" lIns="0" tIns="0" rIns="0" bIns="0" rtlCol="0" anchor="ctr"/>
          <a:lstStyle/>
          <a:p>
            <a:pPr indent="0" marL="0">
              <a:buNone/>
            </a:pPr>
            <a:r>
              <a:rPr lang="en-US" sz="850" b="1" spc="140" kern="0" dirty="0">
                <a:solidFill>
                  <a:srgbClr val="1600FF"/>
                </a:solidFill>
                <a:latin typeface="Inter"/>
              </a:rPr>
              <a:t>WHAT I TAKE FORWARD</a:t>
            </a:r>
            <a:endParaRPr lang="en-US" sz="850" dirty="0"/>
          </a:p>
        </p:txBody>
      </p:sp>
      <p:sp>
        <p:nvSpPr>
          <p:cNvPr id="5" name="Shape 3"/>
          <p:cNvSpPr/>
          <p:nvPr/>
        </p:nvSpPr>
        <p:spPr>
          <a:xfrm>
            <a:off x="8961120" y="1828800"/>
            <a:ext cx="2194560" cy="2194560"/>
          </a:xfrm>
          <a:prstGeom prst="ellipse">
            <a:avLst/>
          </a:prstGeom>
          <a:solidFill>
            <a:srgbClr val="D6D5FF">
              <a:alpha val="82000"/>
            </a:srgbClr>
          </a:solidFill>
          <a:ln w="12700">
            <a:solidFill>
              <a:srgbClr val="D6D5FF">
                <a:alpha val="0"/>
              </a:srgbClr>
            </a:solidFill>
            <a:prstDash val="solid"/>
          </a:ln>
        </p:spPr>
        <p:txBody>
          <a:bodyPr/>
          <a:p/>
        </p:txBody>
      </p:sp>
      <p:sp>
        <p:nvSpPr>
          <p:cNvPr id="6" name="Shape 4"/>
          <p:cNvSpPr/>
          <p:nvPr/>
        </p:nvSpPr>
        <p:spPr>
          <a:xfrm>
            <a:off x="182880" y="4096512"/>
            <a:ext cx="1920240" cy="1920240"/>
          </a:xfrm>
          <a:prstGeom prst="ellipse">
            <a:avLst/>
          </a:prstGeom>
          <a:solidFill>
            <a:srgbClr val="ECEBFF">
              <a:alpha val="92000"/>
            </a:srgbClr>
          </a:solidFill>
          <a:ln w="12700">
            <a:solidFill>
              <a:srgbClr val="ECEBFF">
                <a:alpha val="0"/>
              </a:srgbClr>
            </a:solidFill>
            <a:prstDash val="solid"/>
          </a:ln>
        </p:spPr>
        <p:txBody>
          <a:bodyPr/>
          <a:p/>
        </p:txBody>
      </p:sp>
      <p:sp>
        <p:nvSpPr>
          <p:cNvPr id="7" name="Shape 5"/>
          <p:cNvSpPr/>
          <p:nvPr/>
        </p:nvSpPr>
        <p:spPr>
          <a:xfrm>
            <a:off x="676656" y="1901952"/>
            <a:ext cx="64008" cy="512064"/>
          </a:xfrm>
          <a:prstGeom prst="rect">
            <a:avLst/>
          </a:prstGeom>
          <a:solidFill>
            <a:srgbClr val="1600FF"/>
          </a:solidFill>
          <a:ln w="12700">
            <a:solidFill>
              <a:srgbClr val="1600FF"/>
            </a:solidFill>
            <a:prstDash val="solid"/>
          </a:ln>
        </p:spPr>
        <p:txBody>
          <a:bodyPr/>
          <a:p/>
        </p:txBody>
      </p:sp>
      <p:sp>
        <p:nvSpPr>
          <p:cNvPr id="8" name="Text 6"/>
          <p:cNvSpPr/>
          <p:nvPr/>
        </p:nvSpPr>
        <p:spPr>
          <a:xfrm>
            <a:off x="914400" y="1810512"/>
            <a:ext cx="3291840" cy="283464"/>
          </a:xfrm>
          <a:prstGeom prst="rect">
            <a:avLst/>
          </a:prstGeom>
          <a:noFill/>
          <a:ln/>
        </p:spPr>
        <p:txBody>
          <a:bodyPr wrap="square" lIns="0" tIns="0" rIns="0" bIns="0" rtlCol="0" anchor="ctr"/>
          <a:lstStyle/>
          <a:p>
            <a:pPr indent="0" marL="0">
              <a:buNone/>
            </a:pPr>
            <a:r>
              <a:rPr lang="en-US" sz="1600" b="1" dirty="0">
                <a:solidFill>
                  <a:srgbClr val="17171A"/>
                </a:solidFill>
                <a:latin typeface="Inter"/>
              </a:rPr>
              <a:t>Data-first thinking</a:t>
            </a:r>
            <a:endParaRPr lang="en-US" sz="1600" dirty="0"/>
          </a:p>
        </p:txBody>
      </p:sp>
      <p:sp>
        <p:nvSpPr>
          <p:cNvPr id="9" name="Text 7"/>
          <p:cNvSpPr/>
          <p:nvPr/>
        </p:nvSpPr>
        <p:spPr>
          <a:xfrm>
            <a:off x="3730752" y="1810512"/>
            <a:ext cx="7269480" cy="475488"/>
          </a:xfrm>
          <a:prstGeom prst="rect">
            <a:avLst/>
          </a:prstGeom>
          <a:noFill/>
          <a:ln/>
        </p:spPr>
        <p:txBody>
          <a:bodyPr wrap="square" lIns="0" tIns="0" rIns="0" bIns="0" rtlCol="0" anchor="ctr">
            <a:normAutofit/>
          </a:bodyPr>
          <a:lstStyle/>
          <a:p>
            <a:pPr indent="0" marL="0">
              <a:buNone/>
            </a:pPr>
            <a:r>
              <a:rPr lang="en-US" sz="1240" dirty="0">
                <a:solidFill>
                  <a:srgbClr val="64646B"/>
                </a:solidFill>
                <a:latin typeface="Inter"/>
              </a:rPr>
              <a:t>Start with quality, context and useful signals before jumping to conclusions.</a:t>
            </a:r>
            <a:endParaRPr lang="en-US" sz="1240" dirty="0"/>
          </a:p>
        </p:txBody>
      </p:sp>
      <p:sp>
        <p:nvSpPr>
          <p:cNvPr id="10" name="Shape 8"/>
          <p:cNvSpPr/>
          <p:nvPr/>
        </p:nvSpPr>
        <p:spPr>
          <a:xfrm>
            <a:off x="676656" y="2962656"/>
            <a:ext cx="64008" cy="512064"/>
          </a:xfrm>
          <a:prstGeom prst="rect">
            <a:avLst/>
          </a:prstGeom>
          <a:solidFill>
            <a:srgbClr val="1600FF"/>
          </a:solidFill>
          <a:ln w="12700">
            <a:solidFill>
              <a:srgbClr val="1600FF"/>
            </a:solidFill>
            <a:prstDash val="solid"/>
          </a:ln>
        </p:spPr>
        <p:txBody>
          <a:bodyPr/>
          <a:p/>
        </p:txBody>
      </p:sp>
      <p:sp>
        <p:nvSpPr>
          <p:cNvPr id="11" name="Text 9"/>
          <p:cNvSpPr/>
          <p:nvPr/>
        </p:nvSpPr>
        <p:spPr>
          <a:xfrm>
            <a:off x="914400" y="2871216"/>
            <a:ext cx="3291840" cy="283464"/>
          </a:xfrm>
          <a:prstGeom prst="rect">
            <a:avLst/>
          </a:prstGeom>
          <a:noFill/>
          <a:ln/>
        </p:spPr>
        <p:txBody>
          <a:bodyPr wrap="square" lIns="0" tIns="0" rIns="0" bIns="0" rtlCol="0" anchor="ctr"/>
          <a:lstStyle/>
          <a:p>
            <a:pPr indent="0" marL="0">
              <a:buNone/>
            </a:pPr>
            <a:r>
              <a:rPr lang="en-US" sz="1600" b="1" dirty="0">
                <a:solidFill>
                  <a:srgbClr val="17171A"/>
                </a:solidFill>
                <a:latin typeface="Inter"/>
              </a:rPr>
              <a:t>AI with purpose</a:t>
            </a:r>
            <a:endParaRPr lang="en-US" sz="1600" dirty="0"/>
          </a:p>
        </p:txBody>
      </p:sp>
      <p:sp>
        <p:nvSpPr>
          <p:cNvPr id="12" name="Text 10"/>
          <p:cNvSpPr/>
          <p:nvPr/>
        </p:nvSpPr>
        <p:spPr>
          <a:xfrm>
            <a:off x="3730752" y="2871216"/>
            <a:ext cx="7269480" cy="475488"/>
          </a:xfrm>
          <a:prstGeom prst="rect">
            <a:avLst/>
          </a:prstGeom>
          <a:noFill/>
          <a:ln/>
        </p:spPr>
        <p:txBody>
          <a:bodyPr wrap="square" lIns="0" tIns="0" rIns="0" bIns="0" rtlCol="0" anchor="ctr">
            <a:normAutofit/>
          </a:bodyPr>
          <a:lstStyle/>
          <a:p>
            <a:pPr indent="0" marL="0">
              <a:buNone/>
            </a:pPr>
            <a:r>
              <a:rPr lang="en-US" sz="1240" dirty="0">
                <a:solidFill>
                  <a:srgbClr val="64646B"/>
                </a:solidFill>
                <a:latin typeface="Inter"/>
              </a:rPr>
              <a:t>Use GenAI as a practical support layer for analysis, modeling logic and strategy.</a:t>
            </a:r>
            <a:endParaRPr lang="en-US" sz="1240" dirty="0"/>
          </a:p>
        </p:txBody>
      </p:sp>
      <p:sp>
        <p:nvSpPr>
          <p:cNvPr id="13" name="Shape 11"/>
          <p:cNvSpPr/>
          <p:nvPr/>
        </p:nvSpPr>
        <p:spPr>
          <a:xfrm>
            <a:off x="676656" y="4023360"/>
            <a:ext cx="64008" cy="512064"/>
          </a:xfrm>
          <a:prstGeom prst="rect">
            <a:avLst/>
          </a:prstGeom>
          <a:solidFill>
            <a:srgbClr val="1600FF"/>
          </a:solidFill>
          <a:ln w="12700">
            <a:solidFill>
              <a:srgbClr val="1600FF"/>
            </a:solidFill>
            <a:prstDash val="solid"/>
          </a:ln>
        </p:spPr>
        <p:txBody>
          <a:bodyPr/>
          <a:p/>
        </p:txBody>
      </p:sp>
      <p:sp>
        <p:nvSpPr>
          <p:cNvPr id="14" name="Text 12"/>
          <p:cNvSpPr/>
          <p:nvPr/>
        </p:nvSpPr>
        <p:spPr>
          <a:xfrm>
            <a:off x="914400" y="3931920"/>
            <a:ext cx="3291840" cy="283464"/>
          </a:xfrm>
          <a:prstGeom prst="rect">
            <a:avLst/>
          </a:prstGeom>
          <a:noFill/>
          <a:ln/>
        </p:spPr>
        <p:txBody>
          <a:bodyPr wrap="square" lIns="0" tIns="0" rIns="0" bIns="0" rtlCol="0" anchor="ctr"/>
          <a:lstStyle/>
          <a:p>
            <a:pPr indent="0" marL="0">
              <a:buNone/>
            </a:pPr>
            <a:r>
              <a:rPr lang="en-US" sz="1600" b="1" dirty="0">
                <a:solidFill>
                  <a:srgbClr val="17171A"/>
                </a:solidFill>
                <a:latin typeface="Inter"/>
              </a:rPr>
              <a:t>Business translation</a:t>
            </a:r>
            <a:endParaRPr lang="en-US" sz="1600" dirty="0"/>
          </a:p>
        </p:txBody>
      </p:sp>
      <p:sp>
        <p:nvSpPr>
          <p:cNvPr id="15" name="Text 13"/>
          <p:cNvSpPr/>
          <p:nvPr/>
        </p:nvSpPr>
        <p:spPr>
          <a:xfrm>
            <a:off x="3730752" y="3931920"/>
            <a:ext cx="7269480" cy="475488"/>
          </a:xfrm>
          <a:prstGeom prst="rect">
            <a:avLst/>
          </a:prstGeom>
          <a:noFill/>
          <a:ln/>
        </p:spPr>
        <p:txBody>
          <a:bodyPr wrap="square" lIns="0" tIns="0" rIns="0" bIns="0" rtlCol="0" anchor="ctr">
            <a:normAutofit/>
          </a:bodyPr>
          <a:lstStyle/>
          <a:p>
            <a:pPr indent="0" marL="0">
              <a:buNone/>
            </a:pPr>
            <a:r>
              <a:rPr lang="en-US" sz="1240" dirty="0">
                <a:solidFill>
                  <a:srgbClr val="64646B"/>
                </a:solidFill>
                <a:latin typeface="Inter"/>
              </a:rPr>
              <a:t>Turn technical findings into decisions, workflows and measurable next steps.</a:t>
            </a:r>
            <a:endParaRPr lang="en-US" sz="1240" dirty="0"/>
          </a:p>
        </p:txBody>
      </p:sp>
      <p:sp>
        <p:nvSpPr>
          <p:cNvPr id="16" name="Shape 14"/>
          <p:cNvSpPr/>
          <p:nvPr/>
        </p:nvSpPr>
        <p:spPr>
          <a:xfrm>
            <a:off x="676656" y="5084064"/>
            <a:ext cx="64008" cy="512064"/>
          </a:xfrm>
          <a:prstGeom prst="rect">
            <a:avLst/>
          </a:prstGeom>
          <a:solidFill>
            <a:srgbClr val="1600FF"/>
          </a:solidFill>
          <a:ln w="12700">
            <a:solidFill>
              <a:srgbClr val="1600FF"/>
            </a:solidFill>
            <a:prstDash val="solid"/>
          </a:ln>
        </p:spPr>
        <p:txBody>
          <a:bodyPr/>
          <a:p/>
        </p:txBody>
      </p:sp>
      <p:sp>
        <p:nvSpPr>
          <p:cNvPr id="17" name="Text 15"/>
          <p:cNvSpPr/>
          <p:nvPr/>
        </p:nvSpPr>
        <p:spPr>
          <a:xfrm>
            <a:off x="914400" y="4992624"/>
            <a:ext cx="3291840" cy="283464"/>
          </a:xfrm>
          <a:prstGeom prst="rect">
            <a:avLst/>
          </a:prstGeom>
          <a:noFill/>
          <a:ln/>
        </p:spPr>
        <p:txBody>
          <a:bodyPr wrap="square" lIns="0" tIns="0" rIns="0" bIns="0" rtlCol="0" anchor="ctr"/>
          <a:lstStyle/>
          <a:p>
            <a:pPr indent="0" marL="0">
              <a:buNone/>
            </a:pPr>
            <a:r>
              <a:rPr lang="en-US" sz="1600" b="1" dirty="0">
                <a:solidFill>
                  <a:srgbClr val="17171A"/>
                </a:solidFill>
                <a:latin typeface="Inter"/>
              </a:rPr>
              <a:t>Responsible implementation</a:t>
            </a:r>
            <a:endParaRPr lang="en-US" sz="1600" dirty="0"/>
          </a:p>
        </p:txBody>
      </p:sp>
      <p:sp>
        <p:nvSpPr>
          <p:cNvPr id="18" name="Text 16"/>
          <p:cNvSpPr/>
          <p:nvPr/>
        </p:nvSpPr>
        <p:spPr>
          <a:xfrm>
            <a:off x="3730752" y="4992624"/>
            <a:ext cx="7269480" cy="475488"/>
          </a:xfrm>
          <a:prstGeom prst="rect">
            <a:avLst/>
          </a:prstGeom>
          <a:noFill/>
          <a:ln/>
        </p:spPr>
        <p:txBody>
          <a:bodyPr wrap="square" lIns="0" tIns="0" rIns="0" bIns="0" rtlCol="0" anchor="ctr">
            <a:normAutofit/>
          </a:bodyPr>
          <a:lstStyle/>
          <a:p>
            <a:pPr indent="0" marL="0">
              <a:buNone/>
            </a:pPr>
            <a:r>
              <a:rPr lang="en-US" sz="1240" dirty="0">
                <a:solidFill>
                  <a:srgbClr val="64646B"/>
                </a:solidFill>
                <a:latin typeface="Inter"/>
              </a:rPr>
              <a:t>Keep ethics, compliance and scalability visible throughout the process.</a:t>
            </a:r>
            <a:endParaRPr lang="en-US" sz="1240" dirty="0"/>
          </a:p>
        </p:txBody>
      </p:sp>
      <p:sp>
        <p:nvSpPr>
          <p:cNvPr id="19" name="Text 17"/>
          <p:cNvSpPr/>
          <p:nvPr/>
        </p:nvSpPr>
        <p:spPr>
          <a:xfrm>
            <a:off x="960120" y="5650992"/>
            <a:ext cx="10058400" cy="329184"/>
          </a:xfrm>
          <a:prstGeom prst="rect">
            <a:avLst/>
          </a:prstGeom>
          <a:noFill/>
          <a:ln/>
        </p:spPr>
        <p:txBody>
          <a:bodyPr wrap="square" lIns="0" tIns="0" rIns="0" bIns="0" rtlCol="0" anchor="t">
            <a:normAutofit/>
          </a:bodyPr>
          <a:lstStyle/>
          <a:p>
            <a:pPr algn="l" indent="0" marL="0">
              <a:buNone/>
            </a:pPr>
            <a:r>
              <a:rPr lang="en-US" sz="1500" b="1" dirty="0">
                <a:solidFill>
                  <a:srgbClr val="1600FF"/>
                </a:solidFill>
                <a:latin typeface="Inter" pitchFamily="34" charset="0"/>
                <a:ea typeface="Arial" pitchFamily="34" charset="-122"/>
                <a:cs typeface="Arial" pitchFamily="34" charset="-120"/>
              </a:rPr>
              <a:t>Overall, the simulation connected GenAI, analytics, prediction and strategy into one practical workflow.</a:t>
            </a:r>
            <a:endParaRPr lang="en-US" sz="130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777240" cy="502920"/>
          </a:xfrm>
          <a:prstGeom prst="rect">
            <a:avLst/>
          </a:prstGeom>
          <a:noFill/>
          <a:ln/>
        </p:spPr>
        <p:txBody>
          <a:bodyPr wrap="square" lIns="0" tIns="0" rIns="0" bIns="0" rtlCol="0" anchor="ctr"/>
          <a:lstStyle/>
          <a:p>
            <a:pPr indent="0" marL="0">
              <a:buNone/>
            </a:pPr>
            <a:r>
              <a:rPr lang="en-US" sz="2600" b="1" spc="50" kern="0" dirty="0">
                <a:solidFill>
                  <a:srgbClr val="1600FF"/>
                </a:solidFill>
                <a:latin typeface="Inter" pitchFamily="34" charset="0"/>
                <a:ea typeface="Arial Narrow" pitchFamily="34" charset="-122"/>
                <a:cs typeface="Arial Narrow" pitchFamily="34" charset="-120"/>
              </a:rPr>
              <a:t>11</a:t>
            </a:r>
            <a:endParaRPr lang="en-US" sz="2600" dirty="0"/>
          </a:p>
        </p:txBody>
      </p:sp>
      <p:sp>
        <p:nvSpPr>
          <p:cNvPr id="3" name="Text 1"/>
          <p:cNvSpPr/>
          <p:nvPr/>
        </p:nvSpPr>
        <p:spPr>
          <a:xfrm>
            <a:off x="1234440" y="713232"/>
            <a:ext cx="10241280" cy="658368"/>
          </a:xfrm>
          <a:prstGeom prst="rect">
            <a:avLst/>
          </a:prstGeom>
          <a:noFill/>
          <a:ln/>
        </p:spPr>
        <p:txBody>
          <a:bodyPr wrap="square" lIns="0" tIns="0" rIns="0" bIns="0" rtlCol="0" anchor="ctr">
            <a:normAutofit/>
          </a:bodyPr>
          <a:lstStyle/>
          <a:p>
            <a:pPr indent="0" marL="0">
              <a:buNone/>
            </a:pPr>
            <a:r>
              <a:rPr lang="en-US" sz="3100" b="1" dirty="0">
                <a:solidFill>
                  <a:srgbClr val="17171A"/>
                </a:solidFill>
                <a:latin typeface="Inter" pitchFamily="34" charset="0"/>
                <a:ea typeface="Arial Narrow" pitchFamily="34" charset="-122"/>
                <a:cs typeface="Arial Narrow" pitchFamily="34" charset="-120"/>
              </a:rPr>
              <a:t>Conclusion</a:t>
            </a:r>
            <a:endParaRPr lang="en-US" sz="3100" dirty="0"/>
          </a:p>
        </p:txBody>
      </p:sp>
      <p:sp>
        <p:nvSpPr>
          <p:cNvPr id="4" name="Text 2"/>
          <p:cNvSpPr/>
          <p:nvPr/>
        </p:nvSpPr>
        <p:spPr>
          <a:xfrm>
            <a:off x="1243584" y="1353312"/>
            <a:ext cx="8046720" cy="219456"/>
          </a:xfrm>
          <a:prstGeom prst="rect">
            <a:avLst/>
          </a:prstGeom>
          <a:noFill/>
          <a:ln/>
        </p:spPr>
        <p:txBody>
          <a:bodyPr wrap="square" lIns="0" tIns="0" rIns="0" bIns="0" rtlCol="0" anchor="ctr"/>
          <a:lstStyle/>
          <a:p>
            <a:pPr indent="0" marL="0">
              <a:buNone/>
            </a:pPr>
            <a:r>
              <a:rPr lang="en-US" sz="850" b="1" spc="140" kern="0" dirty="0">
                <a:solidFill>
                  <a:srgbClr val="1600FF"/>
                </a:solidFill>
                <a:latin typeface="Inter"/>
              </a:rPr>
              <a:t>FROM CLASSROOM LEARNING TO APPLIED ANALYTICS</a:t>
            </a:r>
            <a:endParaRPr lang="en-US" sz="850" dirty="0"/>
          </a:p>
        </p:txBody>
      </p:sp>
      <p:sp>
        <p:nvSpPr>
          <p:cNvPr id="5" name="Shape 3"/>
          <p:cNvSpPr/>
          <p:nvPr/>
        </p:nvSpPr>
        <p:spPr>
          <a:xfrm>
            <a:off x="640080" y="1920240"/>
            <a:ext cx="10881360" cy="3383280"/>
          </a:xfrm>
          <a:prstGeom prst="roundRect">
            <a:avLst>
              <a:gd name="adj" fmla="val 2162"/>
            </a:avLst>
          </a:prstGeom>
          <a:solidFill>
            <a:srgbClr val="FFFFFF"/>
          </a:solidFill>
          <a:ln w="10160">
            <a:solidFill>
              <a:srgbClr val="DADAE0"/>
            </a:solidFill>
            <a:prstDash val="solid"/>
          </a:ln>
          <a:effectLst>
            <a:outerShdw sx="100000" sy="100000" kx="0" ky="0" algn="bl" rotWithShape="0" blurRad="25400" dist="12700" dir="2700000">
              <a:srgbClr val="000000">
                <a:alpha val="12000"/>
              </a:srgbClr>
            </a:outerShdw>
          </a:effectLst>
        </p:spPr>
        <p:txBody>
          <a:bodyPr/>
          <a:p/>
        </p:txBody>
      </p:sp>
      <p:sp>
        <p:nvSpPr>
          <p:cNvPr id="6" name="Text 4"/>
          <p:cNvSpPr/>
          <p:nvPr/>
        </p:nvSpPr>
        <p:spPr>
          <a:xfrm>
            <a:off x="987552" y="2395728"/>
            <a:ext cx="10012680" cy="1143000"/>
          </a:xfrm>
          <a:prstGeom prst="rect">
            <a:avLst/>
          </a:prstGeom>
          <a:noFill/>
          <a:ln/>
        </p:spPr>
        <p:txBody>
          <a:bodyPr wrap="square" lIns="0" tIns="0" rIns="0" bIns="0" rtlCol="0" anchor="ctr">
            <a:normAutofit/>
          </a:bodyPr>
          <a:lstStyle/>
          <a:p>
            <a:pPr algn="ctr" indent="0" marL="0">
              <a:buNone/>
            </a:pPr>
            <a:r>
              <a:rPr lang="en-US" sz="2000" b="1" dirty="0">
                <a:solidFill>
                  <a:srgbClr val="17171A"/>
                </a:solidFill>
                <a:latin typeface="Inter"/>
              </a:rPr>
              <a:t>This experience helped me understand how GenAI can support a real business analytics workflow — from exploring data and identifying risk signals to structuring predictive modeling and designing an AI-driven strategy.</a:t>
            </a:r>
            <a:endParaRPr lang="en-US" sz="2000" dirty="0"/>
          </a:p>
        </p:txBody>
      </p:sp>
      <p:sp>
        <p:nvSpPr>
          <p:cNvPr id="7" name="Shape 5"/>
          <p:cNvSpPr/>
          <p:nvPr/>
        </p:nvSpPr>
        <p:spPr>
          <a:xfrm>
            <a:off x="1993392" y="4078224"/>
            <a:ext cx="768096" cy="274320"/>
          </a:xfrm>
          <a:prstGeom prst="roundRect">
            <a:avLst>
              <a:gd name="adj" fmla="val 43333"/>
            </a:avLst>
          </a:prstGeom>
          <a:solidFill>
            <a:srgbClr val="F2F2F5"/>
          </a:solidFill>
          <a:ln w="11430">
            <a:solidFill>
              <a:srgbClr val="1600FF"/>
            </a:solidFill>
            <a:prstDash val="solid"/>
          </a:ln>
        </p:spPr>
        <p:txBody>
          <a:bodyPr/>
          <a:p/>
        </p:txBody>
      </p:sp>
      <p:sp>
        <p:nvSpPr>
          <p:cNvPr id="8" name="Text 6"/>
          <p:cNvSpPr/>
          <p:nvPr/>
        </p:nvSpPr>
        <p:spPr>
          <a:xfrm>
            <a:off x="2057400" y="4146804"/>
            <a:ext cx="640080"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GENAI</a:t>
            </a:r>
            <a:endParaRPr lang="en-US" sz="800" dirty="0"/>
          </a:p>
        </p:txBody>
      </p:sp>
      <p:sp>
        <p:nvSpPr>
          <p:cNvPr id="9" name="Shape 7"/>
          <p:cNvSpPr/>
          <p:nvPr/>
        </p:nvSpPr>
        <p:spPr>
          <a:xfrm>
            <a:off x="2926080" y="4078224"/>
            <a:ext cx="1225296" cy="274320"/>
          </a:xfrm>
          <a:prstGeom prst="roundRect">
            <a:avLst>
              <a:gd name="adj" fmla="val 43333"/>
            </a:avLst>
          </a:prstGeom>
          <a:solidFill>
            <a:srgbClr val="F2F2F5"/>
          </a:solidFill>
          <a:ln w="11430">
            <a:solidFill>
              <a:srgbClr val="1600FF"/>
            </a:solidFill>
            <a:prstDash val="solid"/>
          </a:ln>
        </p:spPr>
        <p:txBody>
          <a:bodyPr/>
          <a:p/>
        </p:txBody>
      </p:sp>
      <p:sp>
        <p:nvSpPr>
          <p:cNvPr id="10" name="Text 8"/>
          <p:cNvSpPr/>
          <p:nvPr/>
        </p:nvSpPr>
        <p:spPr>
          <a:xfrm>
            <a:off x="2990088" y="4146804"/>
            <a:ext cx="1097280"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DATA ANALYTICS</a:t>
            </a:r>
            <a:endParaRPr lang="en-US" sz="800" dirty="0"/>
          </a:p>
        </p:txBody>
      </p:sp>
      <p:sp>
        <p:nvSpPr>
          <p:cNvPr id="11" name="Shape 9"/>
          <p:cNvSpPr/>
          <p:nvPr/>
        </p:nvSpPr>
        <p:spPr>
          <a:xfrm>
            <a:off x="4315968" y="4078224"/>
            <a:ext cx="1581912" cy="274320"/>
          </a:xfrm>
          <a:prstGeom prst="roundRect">
            <a:avLst>
              <a:gd name="adj" fmla="val 43333"/>
            </a:avLst>
          </a:prstGeom>
          <a:solidFill>
            <a:srgbClr val="F2F2F5"/>
          </a:solidFill>
          <a:ln w="11430">
            <a:solidFill>
              <a:srgbClr val="1600FF"/>
            </a:solidFill>
            <a:prstDash val="solid"/>
          </a:ln>
        </p:spPr>
        <p:txBody>
          <a:bodyPr/>
          <a:p/>
        </p:txBody>
      </p:sp>
      <p:sp>
        <p:nvSpPr>
          <p:cNvPr id="12" name="Text 10"/>
          <p:cNvSpPr/>
          <p:nvPr/>
        </p:nvSpPr>
        <p:spPr>
          <a:xfrm>
            <a:off x="4379976" y="4146804"/>
            <a:ext cx="1453896"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PREDICTIVE MODELING</a:t>
            </a:r>
            <a:endParaRPr lang="en-US" sz="800" dirty="0"/>
          </a:p>
        </p:txBody>
      </p:sp>
      <p:sp>
        <p:nvSpPr>
          <p:cNvPr id="13" name="Shape 11"/>
          <p:cNvSpPr/>
          <p:nvPr/>
        </p:nvSpPr>
        <p:spPr>
          <a:xfrm>
            <a:off x="6053328" y="4078224"/>
            <a:ext cx="1060704" cy="274320"/>
          </a:xfrm>
          <a:prstGeom prst="roundRect">
            <a:avLst>
              <a:gd name="adj" fmla="val 43333"/>
            </a:avLst>
          </a:prstGeom>
          <a:solidFill>
            <a:srgbClr val="F2F2F5"/>
          </a:solidFill>
          <a:ln w="11430">
            <a:solidFill>
              <a:srgbClr val="1600FF"/>
            </a:solidFill>
            <a:prstDash val="solid"/>
          </a:ln>
        </p:spPr>
        <p:txBody>
          <a:bodyPr/>
          <a:p/>
        </p:txBody>
      </p:sp>
      <p:sp>
        <p:nvSpPr>
          <p:cNvPr id="14" name="Text 12"/>
          <p:cNvSpPr/>
          <p:nvPr/>
        </p:nvSpPr>
        <p:spPr>
          <a:xfrm>
            <a:off x="6117336" y="4146804"/>
            <a:ext cx="932688"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AI STRATEGY</a:t>
            </a:r>
            <a:endParaRPr lang="en-US" sz="800" dirty="0"/>
          </a:p>
        </p:txBody>
      </p:sp>
      <p:sp>
        <p:nvSpPr>
          <p:cNvPr id="15" name="Shape 13"/>
          <p:cNvSpPr/>
          <p:nvPr/>
        </p:nvSpPr>
        <p:spPr>
          <a:xfrm>
            <a:off x="7278624" y="4078224"/>
            <a:ext cx="1225296" cy="274320"/>
          </a:xfrm>
          <a:prstGeom prst="roundRect">
            <a:avLst>
              <a:gd name="adj" fmla="val 43333"/>
            </a:avLst>
          </a:prstGeom>
          <a:solidFill>
            <a:srgbClr val="F2F2F5"/>
          </a:solidFill>
          <a:ln w="11430">
            <a:solidFill>
              <a:srgbClr val="1600FF"/>
            </a:solidFill>
            <a:prstDash val="solid"/>
          </a:ln>
        </p:spPr>
        <p:txBody>
          <a:bodyPr/>
          <a:p/>
        </p:txBody>
      </p:sp>
      <p:sp>
        <p:nvSpPr>
          <p:cNvPr id="16" name="Text 14"/>
          <p:cNvSpPr/>
          <p:nvPr/>
        </p:nvSpPr>
        <p:spPr>
          <a:xfrm>
            <a:off x="7342632" y="4146804"/>
            <a:ext cx="1097280" cy="109728"/>
          </a:xfrm>
          <a:prstGeom prst="rect">
            <a:avLst/>
          </a:prstGeom>
          <a:noFill/>
          <a:ln/>
        </p:spPr>
        <p:txBody>
          <a:bodyPr wrap="square" lIns="0" tIns="0" rIns="0" bIns="0" rtlCol="0" anchor="ctr">
            <a:normAutofit/>
          </a:bodyPr>
          <a:lstStyle/>
          <a:p>
            <a:pPr algn="ctr" indent="0" marL="0">
              <a:buNone/>
            </a:pPr>
            <a:r>
              <a:rPr lang="en-US" sz="800" b="1" spc="30" kern="0" dirty="0">
                <a:solidFill>
                  <a:srgbClr val="1600FF"/>
                </a:solidFill>
                <a:latin typeface="Inter" pitchFamily="34" charset="0"/>
                <a:ea typeface="Arial" pitchFamily="34" charset="-122"/>
                <a:cs typeface="Arial" pitchFamily="34" charset="-120"/>
              </a:rPr>
              <a:t>RESPONSIBLE AI</a:t>
            </a:r>
            <a:endParaRPr lang="en-US" sz="800" dirty="0"/>
          </a:p>
        </p:txBody>
      </p:sp>
      <p:sp>
        <p:nvSpPr>
          <p:cNvPr id="17" name="Text 15"/>
          <p:cNvSpPr/>
          <p:nvPr/>
        </p:nvSpPr>
        <p:spPr>
          <a:xfrm>
            <a:off x="1325880" y="4791456"/>
            <a:ext cx="9144000" cy="310896"/>
          </a:xfrm>
          <a:prstGeom prst="rect">
            <a:avLst/>
          </a:prstGeom>
          <a:noFill/>
          <a:ln/>
        </p:spPr>
        <p:txBody>
          <a:bodyPr wrap="square" lIns="0" tIns="0" rIns="0" bIns="0" rtlCol="0" anchor="t">
            <a:normAutofit/>
          </a:bodyPr>
          <a:lstStyle/>
          <a:p>
            <a:pPr algn="ctr" indent="0" marL="0">
              <a:buNone/>
            </a:pPr>
            <a:r>
              <a:rPr lang="en-US" sz="1300" dirty="0">
                <a:solidFill>
                  <a:srgbClr val="64646B"/>
                </a:solidFill>
                <a:latin typeface="Inter" pitchFamily="34" charset="0"/>
                <a:ea typeface="Arial" pitchFamily="34" charset="-122"/>
                <a:cs typeface="Arial" pitchFamily="34" charset="-120"/>
              </a:rPr>
              <a:t>Key message: analytical thinking becomes more valuable when it can be translated into responsible, actionable strategy.</a:t>
            </a:r>
            <a:endParaRPr lang="en-US" sz="130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347472" cy="6858000"/>
          </a:xfrm>
          <a:prstGeom prst="rect">
            <a:avLst/>
          </a:prstGeom>
          <a:solidFill>
            <a:srgbClr val="1600FF"/>
          </a:solidFill>
          <a:ln w="12700">
            <a:solidFill>
              <a:srgbClr val="1600FF"/>
            </a:solidFill>
            <a:prstDash val="solid"/>
          </a:ln>
        </p:spPr>
        <p:txBody>
          <a:bodyPr/>
          <a:p/>
        </p:txBody>
      </p:sp>
      <p:sp>
        <p:nvSpPr>
          <p:cNvPr id="3" name="Shape 1"/>
          <p:cNvSpPr/>
          <p:nvPr/>
        </p:nvSpPr>
        <p:spPr>
          <a:xfrm>
            <a:off x="11841480" y="0"/>
            <a:ext cx="350215" cy="6858000"/>
          </a:xfrm>
          <a:prstGeom prst="rect">
            <a:avLst/>
          </a:prstGeom>
          <a:solidFill>
            <a:srgbClr val="1600FF"/>
          </a:solidFill>
          <a:ln w="12700">
            <a:solidFill>
              <a:srgbClr val="1600FF"/>
            </a:solidFill>
            <a:prstDash val="solid"/>
          </a:ln>
        </p:spPr>
        <p:txBody>
          <a:bodyPr/>
          <a:p/>
        </p:txBody>
      </p:sp>
      <p:sp>
        <p:nvSpPr>
          <p:cNvPr id="4" name="Shape 2"/>
          <p:cNvSpPr/>
          <p:nvPr/>
        </p:nvSpPr>
        <p:spPr>
          <a:xfrm>
            <a:off x="914400" y="1005840"/>
            <a:ext cx="3108960" cy="3108960"/>
          </a:xfrm>
          <a:prstGeom prst="ellipse">
            <a:avLst/>
          </a:prstGeom>
          <a:solidFill>
            <a:srgbClr val="D9D8FF">
              <a:alpha val="82000"/>
            </a:srgbClr>
          </a:solidFill>
          <a:ln w="12700">
            <a:solidFill>
              <a:srgbClr val="D9D8FF">
                <a:alpha val="0"/>
              </a:srgbClr>
            </a:solidFill>
            <a:prstDash val="solid"/>
          </a:ln>
        </p:spPr>
        <p:txBody>
          <a:bodyPr/>
          <a:p/>
        </p:txBody>
      </p:sp>
      <p:sp>
        <p:nvSpPr>
          <p:cNvPr id="5" name="Text 3"/>
          <p:cNvSpPr/>
          <p:nvPr/>
        </p:nvSpPr>
        <p:spPr>
          <a:xfrm>
            <a:off x="4590288" y="1737360"/>
            <a:ext cx="4389120" cy="768096"/>
          </a:xfrm>
          <a:prstGeom prst="rect">
            <a:avLst/>
          </a:prstGeom>
          <a:noFill/>
          <a:ln/>
        </p:spPr>
        <p:txBody>
          <a:bodyPr wrap="square" lIns="0" tIns="0" rIns="0" bIns="0" rtlCol="0" anchor="ctr"/>
          <a:lstStyle/>
          <a:p>
            <a:pPr algn="ctr" indent="0" marL="0">
              <a:buNone/>
            </a:pPr>
            <a:r>
              <a:rPr lang="en-US" sz="4400" b="1" dirty="0">
                <a:solidFill>
                  <a:srgbClr val="17171A"/>
                </a:solidFill>
                <a:latin typeface="Inter" pitchFamily="34" charset="0"/>
                <a:ea typeface="Arial Narrow" pitchFamily="34" charset="-122"/>
                <a:cs typeface="Arial Narrow" pitchFamily="34" charset="-120"/>
              </a:rPr>
              <a:t>Thank You</a:t>
            </a:r>
            <a:endParaRPr lang="en-US" sz="4400" dirty="0"/>
          </a:p>
        </p:txBody>
      </p:sp>
      <p:sp>
        <p:nvSpPr>
          <p:cNvPr id="6" name="Text 4"/>
          <p:cNvSpPr/>
          <p:nvPr/>
        </p:nvSpPr>
        <p:spPr>
          <a:xfrm>
            <a:off x="3401568" y="2761488"/>
            <a:ext cx="5413248" cy="292608"/>
          </a:xfrm>
          <a:prstGeom prst="rect">
            <a:avLst/>
          </a:prstGeom>
          <a:noFill/>
          <a:ln/>
        </p:spPr>
        <p:txBody>
          <a:bodyPr wrap="square" lIns="0" tIns="0" rIns="0" bIns="0" rtlCol="0" anchor="ctr"/>
          <a:lstStyle/>
          <a:p>
            <a:pPr algn="ctr" indent="0" marL="0">
              <a:buNone/>
            </a:pPr>
            <a:r>
              <a:rPr lang="en-US" sz="1500" dirty="0">
                <a:solidFill>
                  <a:srgbClr val="64646B"/>
                </a:solidFill>
                <a:latin typeface="Inter"/>
              </a:rPr>
              <a:t>Tata iQ — GenAI Powered Data Analytics</a:t>
            </a:r>
            <a:endParaRPr lang="en-US" sz="1500" dirty="0"/>
          </a:p>
        </p:txBody>
      </p:sp>
      <p:sp>
        <p:nvSpPr>
          <p:cNvPr id="7" name="Text 5"/>
          <p:cNvSpPr/>
          <p:nvPr/>
        </p:nvSpPr>
        <p:spPr>
          <a:xfrm>
            <a:off x="4343400" y="3694176"/>
            <a:ext cx="3520440" cy="365760"/>
          </a:xfrm>
          <a:prstGeom prst="rect">
            <a:avLst/>
          </a:prstGeom>
          <a:noFill/>
          <a:ln/>
        </p:spPr>
        <p:txBody>
          <a:bodyPr wrap="square" lIns="0" tIns="0" rIns="0" bIns="0" rtlCol="0" anchor="ctr"/>
          <a:lstStyle/>
          <a:p>
            <a:pPr algn="ctr" indent="0" marL="0">
              <a:buNone/>
            </a:pPr>
            <a:r>
              <a:rPr lang="en-US" sz="1800" b="1" dirty="0">
                <a:solidFill>
                  <a:srgbClr val="17171A"/>
                </a:solidFill>
                <a:latin typeface="Inter"/>
              </a:rPr>
              <a:t>Harshita Sharma</a:t>
            </a:r>
            <a:endParaRPr lang="en-US" sz="1800" dirty="0"/>
          </a:p>
        </p:txBody>
      </p:sp>
      <p:sp>
        <p:nvSpPr>
          <p:cNvPr id="8" name="Text 6"/>
          <p:cNvSpPr/>
          <p:nvPr/>
        </p:nvSpPr>
        <p:spPr>
          <a:xfrm>
            <a:off x="3913632" y="4178808"/>
            <a:ext cx="4343400" cy="256032"/>
          </a:xfrm>
          <a:prstGeom prst="rect">
            <a:avLst/>
          </a:prstGeom>
          <a:noFill/>
          <a:ln/>
        </p:spPr>
        <p:txBody>
          <a:bodyPr wrap="square" lIns="0" tIns="0" rIns="0" bIns="0" rtlCol="0" anchor="ctr"/>
          <a:lstStyle/>
          <a:p>
            <a:pPr algn="ctr" indent="0" marL="0">
              <a:buNone/>
            </a:pPr>
            <a:r>
              <a:rPr lang="en-US" sz="1280" dirty="0">
                <a:solidFill>
                  <a:srgbClr val="64646B"/>
                </a:solidFill>
                <a:latin typeface="Inter"/>
              </a:rPr>
              <a:t>Roll No.: 25SCS1003003715</a:t>
            </a:r>
            <a:endParaRPr lang="en-US" sz="1280" dirty="0"/>
          </a:p>
        </p:txBody>
      </p:sp>
      <p:sp>
        <p:nvSpPr>
          <p:cNvPr id="9" name="Text 7"/>
          <p:cNvSpPr/>
          <p:nvPr/>
        </p:nvSpPr>
        <p:spPr>
          <a:xfrm>
            <a:off x="4937760" y="4599432"/>
            <a:ext cx="2286000" cy="237744"/>
          </a:xfrm>
          <a:prstGeom prst="rect">
            <a:avLst/>
          </a:prstGeom>
          <a:noFill/>
          <a:ln/>
        </p:spPr>
        <p:txBody>
          <a:bodyPr wrap="square" lIns="0" tIns="0" rIns="0" bIns="0" rtlCol="0" anchor="ctr"/>
          <a:lstStyle/>
          <a:p>
            <a:pPr algn="ctr" indent="0" marL="0">
              <a:buNone/>
            </a:pPr>
            <a:r>
              <a:rPr lang="en-US" sz="1280" dirty="0">
                <a:solidFill>
                  <a:srgbClr val="64646B"/>
                </a:solidFill>
                <a:latin typeface="Inter"/>
              </a:rPr>
              <a:t>B.Tech CSE</a:t>
            </a:r>
            <a:endParaRPr lang="en-US" sz="1280" dirty="0"/>
          </a:p>
        </p:txBody>
      </p:sp>
      <p:sp>
        <p:nvSpPr>
          <p:cNvPr id="10" name="Text 8"/>
          <p:cNvSpPr/>
          <p:nvPr/>
        </p:nvSpPr>
        <p:spPr>
          <a:xfrm>
            <a:off x="3108960" y="5212080"/>
            <a:ext cx="5925312" cy="274320"/>
          </a:xfrm>
          <a:prstGeom prst="rect">
            <a:avLst/>
          </a:prstGeom>
          <a:noFill/>
          <a:ln/>
        </p:spPr>
        <p:txBody>
          <a:bodyPr wrap="square" lIns="0" tIns="0" rIns="0" bIns="0" rtlCol="0" anchor="ctr"/>
          <a:lstStyle/>
          <a:p>
            <a:pPr algn="ctr" indent="0" marL="0">
              <a:buNone/>
            </a:pPr>
            <a:r>
              <a:rPr lang="en-US" sz="1100" b="1" spc="50" kern="0" dirty="0">
                <a:solidFill>
                  <a:srgbClr val="1600FF"/>
                </a:solidFill>
                <a:latin typeface="Inter"/>
              </a:rPr>
              <a:t>GenAI • Data Analytics • Predictive Modeling • AI Strategy</a:t>
            </a:r>
            <a:endParaRPr lang="en-US" sz="110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Narr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Harshita Sharma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iQ — GenAI Powered Data Analytics</dc:title>
  <dc:subject>Tata iQ GenAI Powered Data Analytics Job Simulation</dc:subject>
  <dc:creator>Harshita Sharma</dc:creator>
  <cp:lastModifiedBy>Harshita Sharma</cp:lastModifiedBy>
  <cp:revision>1</cp:revision>
  <dcterms:created xsi:type="dcterms:W3CDTF">2026-09-17T19:36:01Z</dcterms:created>
  <dcterms:modified xsi:type="dcterms:W3CDTF">2026-09-17T19:36:01Z</dcterms:modified>
</cp:coreProperties>
</file>